
<file path=[Content_Types].xml><?xml version="1.0" encoding="utf-8"?>
<Types xmlns="http://schemas.openxmlformats.org/package/2006/content-types">
  <Default Extension="rels" ContentType="application/vnd.openxmlformats-package.relationships+xml"/>
  <Default Extension="jpeg" ContentType="image/jpeg"/>
  <Default Extension="png" ContentType="image/png"/>
  <Default Extension="svg" ContentType="image/svg+xml"/>
  <Default Extension="jpg" ContentType="image/jp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9525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9525" cmpd="sng">
              <a:solidFill>
                <a:schemeClr val="tx1"/>
              </a:solidFill>
            </a:ln>
          </a:top>
          <a:bottom>
            <a:ln w="9525" cmpd="sng">
              <a:solidFill>
                <a:schemeClr val="tx1"/>
              </a:solidFill>
            </a:ln>
          </a:bottom>
          <a:insideH>
            <a:ln w="9525" cmpd="sng">
              <a:solidFill>
                <a:schemeClr val="tx1"/>
              </a:solidFill>
            </a:ln>
          </a:insideH>
          <a:insideV>
            <a:ln w="9525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bec28f39d51e696d3713c98594052bd7a6a33f9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7094cbd9ddb980091b3bc46edf335b121c9d20f0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5490d26574bf5d8443ec3334c58301a35152c774.jp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4eee826c3d7911cf8f7b7711046a2a2198d1fd6b.jp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73a05b2fded4bf7781940a4e434905e1e18f750.jp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574fd3edec41bd0052f177623ee5f0bf583ab71.jp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a1ce677a62134f5fd348849ba2ffb2459195cf0e.jp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8b9cc8166be4e47203a21e94cac7c50173a1f5b.jp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b9966a52bee72d91bee528074ab2e709e75c32de.jp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b2ccd6c5d30b68a7897ff97f2b9f3c3d6e5821ba.jp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56dac89451f068d1840dff176d12ab8f6fd75f51.jp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04b9e29862d660ca2fbd6c60360f35b5147d4f11.jp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b064f6d9338bb261cfda6b4e5dca844a70d0d720.jp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e8f7818a3cde004a05031a80293f534173b720e.jp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2c4e829801e24fa1b040cef89a8d1782216d743.jp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094efb011de159be2a17b18d580e2499e22a6245.jp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c5d3415922a1452219e731b388e668331414d57b.jpg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307a0a4d60bbc4539cedc18737469c7811cea261.jpg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c86e9d67dfe70fec75b7338ba1e162b00ac072c3.jpg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/>
          <p:nvPr/>
        </p:nvSpPr>
        <p:spPr>
          <a:xfrm>
            <a:off x="1524000" y="457200"/>
            <a:ext cx="9144000" cy="228600"/>
          </a:xfrm>
          <a:prstGeom prst="rect">
            <a:avLst/>
          </a:prstGeom>
        </p:spPr>
        <p:txBody>
          <a:bodyPr anchor="t" lIns="0" tIns="0" rIns="0" bIns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effectLst/>
              </a:rPr>
              <a:t>Functions of Several Variables</a:t>
            </a:r>
          </a:p>
        </p:txBody>
      </p:sp>
      <p:sp>
        <p:nvSpPr>
          <p:cNvPr id="2" name="Text"/>
          <p:cNvSpPr/>
          <p:nvPr/>
        </p:nvSpPr>
        <p:spPr>
          <a:xfrm>
            <a:off x="1524000" y="838200"/>
            <a:ext cx="9144000" cy="342900"/>
          </a:xfrm>
          <a:prstGeom prst="rect">
            <a:avLst/>
          </a:prstGeom>
        </p:spPr>
        <p:txBody>
          <a:bodyPr anchor="t" lIns="0" tIns="0" rIns="0" bIns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800" dirty="0" b="1">
                <a:effectLst/>
              </a:rPr>
              <a:t>Functions of Several Variables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"/>
              <p:cNvSpPr/>
              <p:nvPr/>
            </p:nvSpPr>
            <p:spPr>
              <a:xfrm>
                <a:off x="1524000" y="1370839"/>
                <a:ext cx="9144000" cy="228600"/>
              </a:xfrm>
              <a:prstGeom prst="rect">
                <a:avLst/>
              </a:prstGeom>
            </p:spPr>
            <p:txBody>
              <a:bodyPr anchor="t" lIns="0" tIns="0" rIns="0" bIns="0"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1200" dirty="0">
                    <a:effectLst/>
                  </a:rPr>
                  <a:t>A function of two variables is a rule which assigns for each (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x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,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y</m:t>
                    </m:r>
                  </m:oMath>
                </a14:m>
                <a:r>
                  <a:rPr lang="en-US" sz="1200" dirty="0">
                    <a:effectLst/>
                  </a:rPr>
                  <a:t> ) in a domain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D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⊂</m:t>
                    </m:r>
                    <m:sSup>
                      <m:sSupPr>
                        <m:ctrlPr>
                          <a:rPr sz="12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b"/>
                          </m:rPr>
                          <a:rPr lang="en-US" sz="1200" dirty="0">
                            <a:solidFill>
                              <a:srgbClr val="000000"/>
                            </a:solidFill>
                            <a:effectLst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200" dirty="0">
                            <a:solidFill>
                              <a:srgbClr val="000000"/>
                            </a:solidFill>
                            <a:effectLst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200" dirty="0">
                    <a:effectLst/>
                  </a:rPr>
                  <a:t> a real number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z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=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f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(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x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,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y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)</m:t>
                    </m:r>
                  </m:oMath>
                </a14:m>
                <a:r>
                  <a:rPr lang="en-US" sz="1200" dirty="0">
                    <a:effectLst/>
                  </a:rPr>
                  <a:t>.</a:t>
                </a:r>
              </a:p>
            </p:txBody>
          </p:sp>
        </mc:Choice>
        <mc:Fallback/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"/>
              <p:cNvSpPr/>
              <p:nvPr/>
            </p:nvSpPr>
            <p:spPr>
              <a:xfrm>
                <a:off x="1524000" y="1751839"/>
                <a:ext cx="9144000" cy="685800"/>
              </a:xfrm>
              <a:prstGeom prst="rect">
                <a:avLst/>
              </a:prstGeom>
            </p:spPr>
            <p:txBody>
              <a:bodyPr anchor="t" lIns="0" tIns="0" rIns="0" bIns="0"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1200" dirty="0">
                    <a:effectLst/>
                  </a:rPr>
                  <a:t>A function of two variables can be given by a formula, a graph or a table.</a:t>
                </a:r>
                <a:br>
                  <a:rPr lang="en-US" sz="1200" dirty="0"/>
                </a:br>
                <a:r>
                  <a:rPr lang="en-US" sz="1200" dirty="0">
                    <a:effectLst/>
                  </a:rPr>
                  <a:t> Formula: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f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(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x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,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y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)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=</m:t>
                    </m:r>
                    <m:sSup>
                      <m:sSupPr>
                        <m:ctrlPr>
                          <a:rPr sz="12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i"/>
                          </m:rPr>
                          <a:rPr lang="en-US" sz="1200" dirty="0">
                            <a:solidFill>
                              <a:srgbClr val="000000"/>
                            </a:solidFill>
                            <a:effectLst/>
                          </a:rPr>
                          <m:t>x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200" dirty="0">
                            <a:solidFill>
                              <a:srgbClr val="000000"/>
                            </a:solidFill>
                            <a:effectLst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+</m:t>
                    </m:r>
                    <m:sSup>
                      <m:sSupPr>
                        <m:ctrlPr>
                          <a:rPr sz="12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i"/>
                          </m:rPr>
                          <a:rPr lang="en-US" sz="1200" dirty="0">
                            <a:solidFill>
                              <a:srgbClr val="000000"/>
                            </a:solidFill>
                            <a:effectLst/>
                          </a:rPr>
                          <m:t>y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200" dirty="0">
                            <a:solidFill>
                              <a:srgbClr val="000000"/>
                            </a:solidFill>
                            <a:effectLst/>
                          </a:rPr>
                          <m:t>2</m:t>
                        </m:r>
                      </m:sup>
                    </m:sSup>
                  </m:oMath>
                </a14:m>
                <a:br>
                  <a:rPr lang="en-US" sz="1200" dirty="0"/>
                </a:br>
                <a:r>
                  <a:rPr lang="en-US" sz="1200" dirty="0">
                    <a:effectLst/>
                  </a:rPr>
                  <a:t> Graph: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{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(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x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,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y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,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z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)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∣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(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x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,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y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)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∈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D</m:t>
                    </m:r>
                  </m:oMath>
                </a14:m>
                <a:r>
                  <a:rPr lang="en-US" sz="1200" dirty="0">
                    <a:effectLst/>
                  </a:rPr>
                  <a:t> and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z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=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f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(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x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,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y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)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}</m:t>
                    </m:r>
                  </m:oMath>
                </a14:m>
              </a:p>
            </p:txBody>
          </p:sp>
        </mc:Choice>
        <mc:Fallback/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"/>
          <p:cNvSpPr/>
          <p:nvPr/>
        </p:nvSpPr>
        <p:spPr>
          <a:xfrm>
            <a:off x="1524000" y="457200"/>
            <a:ext cx="9144000" cy="5943600"/>
          </a:xfrm>
          <a:prstGeom prst="rect">
            <a:avLst/>
          </a:prstGeom>
        </p:spPr>
        <p:txBody>
          <a:bodyPr anchor="t" lIns="0" tIns="0" rIns="0" bIns="0">
            <a:noAutofit/>
          </a:bodyPr>
          <a:lstStyle/>
          <a:p>
            <a:pPr>
              <a:spcAft>
                <a:spcPts val="48000"/>
              </a:spcAft>
            </a:pPr>
            <a:r>
              <a:rPr lang="en-US" sz="100" dirty="0">
                <a:effectLst/>
              </a:rPr>
              <a:t> </a:t>
            </a:r>
          </a:p>
        </p:txBody>
      </p:sp>
      <p:pic>
        <p:nvPicPr>
          <p:cNvPr id="5" name="image-1bec28f39d51e696d3713c98594052bd7a6a33f9.jpg"/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524000" y="457200"/>
            <a:ext cx="6848475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"/>
              <p:cNvSpPr/>
              <p:nvPr/>
            </p:nvSpPr>
            <p:spPr>
              <a:xfrm>
                <a:off x="1524000" y="457200"/>
                <a:ext cx="9144000" cy="228600"/>
              </a:xfrm>
              <a:prstGeom prst="rect">
                <a:avLst/>
              </a:prstGeom>
            </p:spPr>
            <p:txBody>
              <a:bodyPr anchor="t" lIns="0" tIns="0" rIns="0" bIns="0"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1200" dirty="0">
                    <a:effectLst/>
                  </a:rPr>
                  <a:t>Graph of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z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=</m:t>
                    </m:r>
                    <m:sSup>
                      <m:sSupPr>
                        <m:ctrlPr>
                          <a:rPr sz="12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i"/>
                          </m:rPr>
                          <a:rPr lang="en-US" sz="1200" dirty="0">
                            <a:solidFill>
                              <a:srgbClr val="000000"/>
                            </a:solidFill>
                            <a:effectLst/>
                          </a:rPr>
                          <m:t>x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200" dirty="0">
                            <a:solidFill>
                              <a:srgbClr val="000000"/>
                            </a:solidFill>
                            <a:effectLst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+</m:t>
                    </m:r>
                    <m:sSup>
                      <m:sSupPr>
                        <m:ctrlPr>
                          <a:rPr sz="12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i"/>
                          </m:rPr>
                          <a:rPr lang="en-US" sz="1200" dirty="0">
                            <a:solidFill>
                              <a:srgbClr val="000000"/>
                            </a:solidFill>
                            <a:effectLst/>
                          </a:rPr>
                          <m:t>y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200" dirty="0">
                            <a:solidFill>
                              <a:srgbClr val="000000"/>
                            </a:solidFill>
                            <a:effectLst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200" dirty="0">
                    <a:effectLst/>
                  </a:rPr>
                  <a:t> in the domain</a:t>
                </a:r>
              </a:p>
            </p:txBody>
          </p:sp>
        </mc:Choice>
        <mc:Fallback/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"/>
              <p:cNvSpPr/>
              <p:nvPr/>
            </p:nvSpPr>
            <p:spPr>
              <a:xfrm>
                <a:off x="1524000" y="838200"/>
                <a:ext cx="9144000" cy="238125"/>
              </a:xfrm>
              <a:prstGeom prst="rect">
                <a:avLst/>
              </a:prstGeom>
            </p:spPr>
            <p:txBody>
              <a:bodyPr anchor="ctr" lIns="0" tIns="0" rIns="0" bIns="0">
                <a:noAutofit/>
              </a:bodyPr>
              <a:lstStyle/>
              <a:p>
                <a:pPr algn="ctr"/>
                <a14:m>
                  <m:oMathPara>
                    <m:oMath>
                      <m:r>
                        <m:rPr>
                          <m:sty m:val="i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D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sz="12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(</m:t>
                          </m:r>
                          <m:r>
                            <m:rPr>
                              <m:sty m:val="i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,</m:t>
                          </m:r>
                          <m:r>
                            <m:rPr>
                              <m:sty m:val="i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y</m:t>
                          </m:r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∣</m:t>
                          </m:r>
                          <m:sSup>
                            <m:sSupPr>
                              <m:ctrlPr>
                                <a:rPr sz="1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i"/>
                                </m:rPr>
                                <a:rPr lang="en-US" sz="1200" dirty="0">
                                  <a:solidFill>
                                    <a:srgbClr val="000000"/>
                                  </a:solidFill>
                                  <a:effectLst/>
                                </a:rPr>
                                <m:t>x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200" dirty="0">
                                  <a:solidFill>
                                    <a:srgbClr val="000000"/>
                                  </a:solidFill>
                                  <a:effectLst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+</m:t>
                          </m:r>
                          <m:sSup>
                            <m:sSupPr>
                              <m:ctrlPr>
                                <a:rPr sz="1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i"/>
                                </m:rPr>
                                <a:rPr lang="en-US" sz="1200" dirty="0">
                                  <a:solidFill>
                                    <a:srgbClr val="000000"/>
                                  </a:solidFill>
                                  <a:effectLst/>
                                </a:rPr>
                                <m:t>y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200" dirty="0">
                                  <a:solidFill>
                                    <a:srgbClr val="000000"/>
                                  </a:solidFill>
                                  <a:effectLst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4</m:t>
                          </m:r>
                        </m:e>
                      </m:d>
                    </m:oMath>
                  </m:oMathPara>
                </a14:m>
              </a:p>
            </p:txBody>
          </p:sp>
        </mc:Choice>
        <mc:Fallback/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"/>
          <p:cNvSpPr/>
          <p:nvPr/>
        </p:nvSpPr>
        <p:spPr>
          <a:xfrm>
            <a:off x="1524000" y="457200"/>
            <a:ext cx="9144000" cy="6172200"/>
          </a:xfrm>
          <a:prstGeom prst="rect">
            <a:avLst/>
          </a:prstGeom>
        </p:spPr>
        <p:txBody>
          <a:bodyPr anchor="t" lIns="0" tIns="0" rIns="0" bIns="0">
            <a:noAutofit/>
          </a:bodyPr>
          <a:lstStyle/>
          <a:p>
            <a:pPr>
              <a:spcAft>
                <a:spcPts val="48000"/>
              </a:spcAft>
            </a:pPr>
            <a:r>
              <a:rPr lang="en-US" sz="100" dirty="0">
                <a:effectLst/>
              </a:rPr>
              <a:t> </a:t>
            </a:r>
          </a:p>
        </p:txBody>
      </p:sp>
      <p:pic>
        <p:nvPicPr>
          <p:cNvPr id="5" name="image-7094cbd9ddb980091b3bc46edf335b121c9d20f0.jpg"/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524000" y="457200"/>
            <a:ext cx="5114925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"/>
              <p:cNvSpPr/>
              <p:nvPr/>
            </p:nvSpPr>
            <p:spPr>
              <a:xfrm>
                <a:off x="1524000" y="457200"/>
                <a:ext cx="9144000" cy="228600"/>
              </a:xfrm>
              <a:prstGeom prst="rect">
                <a:avLst/>
              </a:prstGeom>
            </p:spPr>
            <p:txBody>
              <a:bodyPr anchor="t" lIns="0" tIns="0" rIns="0" bIns="0"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1200" dirty="0">
                    <a:effectLst/>
                  </a:rPr>
                  <a:t>Since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f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(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1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,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1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)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=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2</m:t>
                    </m:r>
                  </m:oMath>
                </a14:m>
                <a:r>
                  <a:rPr lang="en-US" sz="1200" dirty="0">
                    <a:effectLst/>
                  </a:rPr>
                  <a:t>, the point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P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(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1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,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1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,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2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)</m:t>
                    </m:r>
                  </m:oMath>
                </a14:m>
                <a:r>
                  <a:rPr lang="en-US" sz="1200" dirty="0">
                    <a:effectLst/>
                  </a:rPr>
                  <a:t> is on the graph of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f</m:t>
                    </m:r>
                  </m:oMath>
                </a14:m>
                <a:r>
                  <a:rPr lang="en-US" sz="1200" dirty="0">
                    <a:effectLst/>
                  </a:rPr>
                  <a:t>.</a:t>
                </a:r>
              </a:p>
            </p:txBody>
          </p:sp>
        </mc:Choice>
        <mc:Fallback/>
      </mc:AlternateContent>
      <p:sp>
        <p:nvSpPr>
          <p:cNvPr id="2" name="Text"/>
          <p:cNvSpPr/>
          <p:nvPr/>
        </p:nvSpPr>
        <p:spPr>
          <a:xfrm>
            <a:off x="1524000" y="838200"/>
            <a:ext cx="9144000" cy="342900"/>
          </a:xfrm>
          <a:prstGeom prst="rect">
            <a:avLst/>
          </a:prstGeom>
        </p:spPr>
        <p:txBody>
          <a:bodyPr anchor="t" lIns="0" tIns="0" rIns="0" bIns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800" dirty="0" b="1">
                <a:effectLst/>
              </a:rPr>
              <a:t>Functions of Several Variables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"/>
              <p:cNvSpPr/>
              <p:nvPr/>
            </p:nvSpPr>
            <p:spPr>
              <a:xfrm>
                <a:off x="1524000" y="1370839"/>
                <a:ext cx="9144000" cy="228600"/>
              </a:xfrm>
              <a:prstGeom prst="rect">
                <a:avLst/>
              </a:prstGeom>
            </p:spPr>
            <p:txBody>
              <a:bodyPr anchor="t" lIns="0" tIns="0" rIns="0" bIns="0"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1200" dirty="0">
                    <a:effectLst/>
                  </a:rPr>
                  <a:t>Table: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f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(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x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,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y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)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=</m:t>
                    </m:r>
                    <m:sSup>
                      <m:sSupPr>
                        <m:ctrlPr>
                          <a:rPr sz="12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i"/>
                          </m:rPr>
                          <a:rPr lang="en-US" sz="1200" dirty="0">
                            <a:solidFill>
                              <a:srgbClr val="000000"/>
                            </a:solidFill>
                            <a:effectLst/>
                          </a:rPr>
                          <m:t>x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200" dirty="0">
                            <a:solidFill>
                              <a:srgbClr val="000000"/>
                            </a:solidFill>
                            <a:effectLst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+</m:t>
                    </m:r>
                    <m:sSup>
                      <m:sSupPr>
                        <m:ctrlPr>
                          <a:rPr sz="12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i"/>
                          </m:rPr>
                          <a:rPr lang="en-US" sz="1200" dirty="0">
                            <a:solidFill>
                              <a:srgbClr val="000000"/>
                            </a:solidFill>
                            <a:effectLst/>
                          </a:rPr>
                          <m:t>y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200" dirty="0">
                            <a:solidFill>
                              <a:srgbClr val="000000"/>
                            </a:solidFill>
                            <a:effectLst/>
                          </a:rPr>
                          <m:t>2</m:t>
                        </m:r>
                      </m:sup>
                    </m:sSup>
                  </m:oMath>
                </a14:m>
              </a:p>
            </p:txBody>
          </p:sp>
        </mc:Choice>
        <mc:Fallback/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"/>
              <p:cNvGraphicFramePr>
                <a:graphicFrameLocks noGrp="1"/>
              </p:cNvGraphicFramePr>
              <p:nvPr/>
            </p:nvGraphicFramePr>
            <p:xfrm>
              <a:off x="5238750" y="1751839"/>
              <a:ext cx="1704975" cy="1571625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390525"/>
                    <a:gridCol w="304800"/>
                    <a:gridCol w="342900"/>
                    <a:gridCol w="323850"/>
                    <a:gridCol w="342900"/>
                  </a:tblGrid>
                  <a:tr h="266700">
                    <a:tc>
                      <a:txBody>
                        <a:bodyPr anchor="t" lIns="76200" tIns="1524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</a:rPr>
                            <a:t> </a:t>
                          </a:r>
                        </a:p>
                      </a:txBody>
                      <a:tcPr marL="51200" marR="51200" marT="15240" marB="15240" anchor="ctr">
                        <a:lnL w="9525" cmpd="sng">
                          <a:noFill/>
                        </a:lnL>
                        <a:lnR w="9525" cmpd="sng">
                          <a:noFill/>
                        </a:lnR>
                        <a:lnT w="9525" cmpd="sng">
                          <a:noFill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 anchor="t" lIns="76200" tIns="1524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</a:rPr>
                            <a:t> </a:t>
                          </a:r>
                        </a:p>
                      </a:txBody>
                      <a:tcPr marL="51200" marR="51200" marT="15240" marB="15240" anchor="ctr">
                        <a:lnL w="9525" cmpd="sng">
                          <a:noFill/>
                        </a:lnL>
                        <a:lnR w="9525" cmpd="sng">
                          <a:noFill/>
                        </a:lnR>
                        <a:lnT w="9525" cmpd="sng">
                          <a:noFill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 anchor="t" lIns="76200" tIns="1524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</a:rPr>
                            <a:t> </a:t>
                          </a:r>
                        </a:p>
                      </a:txBody>
                      <a:tcPr marL="51200" marR="51200" marT="15240" marB="15240" anchor="ctr">
                        <a:lnL w="9525" cmpd="sng">
                          <a:noFill/>
                        </a:lnL>
                        <a:lnR w="9525" cmpd="sng">
                          <a:noFill/>
                        </a:lnR>
                        <a:lnT w="9525" cmpd="sng">
                          <a:noFill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 anchor="t" lIns="76200" tIns="1524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</a:rPr>
                            <a:t> </a:t>
                          </a:r>
                        </a:p>
                      </a:txBody>
                      <a:tcPr marL="51200" marR="51200" marT="15240" marB="15240" anchor="ctr">
                        <a:lnL w="9525" cmpd="sng">
                          <a:noFill/>
                        </a:lnL>
                        <a:lnR w="9525" cmpd="sng">
                          <a:noFill/>
                        </a:lnR>
                        <a:lnT w="9525" cmpd="sng">
                          <a:noFill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 anchor="t" lIns="76200" tIns="1524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</a:rPr>
                            <a:t> </a:t>
                          </a:r>
                        </a:p>
                      </a:txBody>
                      <a:tcPr marL="51200" marR="51200" marT="15240" marB="15240" anchor="ctr">
                        <a:lnL w="9525" cmpd="sng">
                          <a:noFill/>
                        </a:lnL>
                        <a:lnR w="9525" cmpd="sng">
                          <a:noFill/>
                        </a:lnR>
                        <a:lnT w="9525" cmpd="sng">
                          <a:noFill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66700">
                    <a:tc>
                      <a:txBody>
                        <a:bodyPr anchor="t" lIns="76200" tIns="1524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en-US" sz="1200" dirty="0">
                              <a:effectLst/>
                            </a:rPr>
                            <a:t>​</a:t>
                          </a:r>
                          <a14:m>
                            <m:oMathPara>
                              <m:oMathParaPr>
                                <m:jc m:val="left"/>
                              </m:oMathParaPr>
                              <m:oMath>
                                <m:r>
                                  <m:rPr>
                                    <m:sty m:val="bi"/>
                                  </m:rPr>
                                  <a:rPr lang="en-US" sz="1200" dirty="0">
                                    <a:solidFill>
                                      <a:srgbClr val="000000"/>
                                    </a:solidFill>
                                    <a:effectLst/>
                                  </a:rPr>
                                  <m:t>y</m:t>
                                </m:r>
                                <m:r>
                                  <m:rPr>
                                    <m:sty m:val="bi"/>
                                  </m:rPr>
                                  <a:rPr lang="en-US" sz="1200" dirty="0">
                                    <a:solidFill>
                                      <a:srgbClr val="000000"/>
                                    </a:solidFill>
                                    <a:effectLst/>
                                  </a:rPr>
                                  <m:t>x</m:t>
                                </m:r>
                              </m:oMath>
                            </m:oMathPara>
                          </a14:m>
                        </a:p>
                      </a:txBody>
                      <a:tcPr marL="51200" marR="51200" marT="15240" marB="15240" anchor="ctr">
                        <a:lnL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 anchor="t" lIns="76200" tIns="1524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en-US" sz="1200" dirty="0">
                              <a:effectLst/>
                            </a:rPr>
                            <a:t>​</a:t>
                          </a:r>
                          <a14:m>
                            <m:oMathPara>
                              <m:oMathParaPr>
                                <m:jc m:val="left"/>
                              </m:oMathParaPr>
                              <m:oMath>
                                <m:r>
                                  <m:rPr>
                                    <m:sty m:val="b"/>
                                  </m:rPr>
                                  <a:rPr lang="en-US" sz="1200" dirty="0">
                                    <a:solidFill>
                                      <a:srgbClr val="000000"/>
                                    </a:solidFill>
                                    <a:effectLst/>
                                  </a:rPr>
                                  <m:t>1</m:t>
                                </m:r>
                              </m:oMath>
                            </m:oMathPara>
                          </a14:m>
                        </a:p>
                      </a:txBody>
                      <a:tcPr marL="51200" marR="51200" marT="15240" marB="15240" anchor="ctr">
                        <a:lnL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 anchor="t" lIns="76200" tIns="1524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en-US" sz="1200" dirty="0">
                              <a:effectLst/>
                            </a:rPr>
                            <a:t>​</a:t>
                          </a:r>
                          <a14:m>
                            <m:oMathPara>
                              <m:oMathParaPr>
                                <m:jc m:val="left"/>
                              </m:oMathParaPr>
                              <m:oMath>
                                <m:r>
                                  <m:rPr>
                                    <m:sty m:val="b"/>
                                  </m:rPr>
                                  <a:rPr lang="en-US" sz="1200" dirty="0">
                                    <a:solidFill>
                                      <a:srgbClr val="000000"/>
                                    </a:solidFill>
                                    <a:effectLst/>
                                  </a:rPr>
                                  <m:t>2</m:t>
                                </m:r>
                              </m:oMath>
                            </m:oMathPara>
                          </a14:m>
                        </a:p>
                      </a:txBody>
                      <a:tcPr marL="51200" marR="51200" marT="15240" marB="15240" anchor="ctr">
                        <a:lnL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 anchor="t" lIns="76200" tIns="1524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en-US" sz="1200" dirty="0">
                              <a:effectLst/>
                            </a:rPr>
                            <a:t>​</a:t>
                          </a:r>
                          <a14:m>
                            <m:oMathPara>
                              <m:oMathParaPr>
                                <m:jc m:val="left"/>
                              </m:oMathParaPr>
                              <m:oMath>
                                <m:r>
                                  <m:rPr>
                                    <m:sty m:val="b"/>
                                  </m:rPr>
                                  <a:rPr lang="en-US" sz="1200" dirty="0">
                                    <a:solidFill>
                                      <a:srgbClr val="000000"/>
                                    </a:solidFill>
                                    <a:effectLst/>
                                  </a:rPr>
                                  <m:t>3</m:t>
                                </m:r>
                              </m:oMath>
                            </m:oMathPara>
                          </a14:m>
                        </a:p>
                      </a:txBody>
                      <a:tcPr marL="51200" marR="51200" marT="15240" marB="15240" anchor="ctr">
                        <a:lnL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 anchor="t" lIns="76200" tIns="1524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en-US" sz="1200" dirty="0">
                              <a:effectLst/>
                            </a:rPr>
                            <a:t>​</a:t>
                          </a:r>
                          <a14:m>
                            <m:oMathPara>
                              <m:oMathParaPr>
                                <m:jc m:val="left"/>
                              </m:oMathParaPr>
                              <m:oMath>
                                <m:r>
                                  <m:rPr>
                                    <m:sty m:val="b"/>
                                  </m:rPr>
                                  <a:rPr lang="en-US" sz="1200" dirty="0">
                                    <a:solidFill>
                                      <a:srgbClr val="000000"/>
                                    </a:solidFill>
                                    <a:effectLst/>
                                  </a:rPr>
                                  <m:t>4</m:t>
                                </m:r>
                              </m:oMath>
                            </m:oMathPara>
                          </a14:m>
                        </a:p>
                      </a:txBody>
                      <a:tcPr marL="51200" marR="51200" marT="15240" marB="15240" anchor="ctr">
                        <a:lnL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66700">
                    <a:tc>
                      <a:txBody>
                        <a:bodyPr anchor="t" lIns="76200" tIns="1524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en-US" sz="1200" dirty="0">
                              <a:effectLst/>
                            </a:rPr>
                            <a:t>​</a:t>
                          </a:r>
                          <a14:m>
                            <m:oMathPara>
                              <m:oMathParaPr>
                                <m:jc m:val="left"/>
                              </m:oMathParaPr>
                              <m:oMath>
                                <m:r>
                                  <m:rPr>
                                    <m:sty m:val="p"/>
                                  </m:rPr>
                                  <a:rPr lang="en-US" sz="1200" dirty="0">
                                    <a:solidFill>
                                      <a:srgbClr val="000000"/>
                                    </a:solidFill>
                                    <a:effectLst/>
                                  </a:rPr>
                                  <m:t>−</m:t>
                                </m:r>
                                <m:r>
                                  <m:rPr>
                                    <m:sty m:val="b"/>
                                  </m:rPr>
                                  <a:rPr lang="en-US" sz="1200" dirty="0">
                                    <a:solidFill>
                                      <a:srgbClr val="000000"/>
                                    </a:solidFill>
                                    <a:effectLst/>
                                  </a:rPr>
                                  <m:t>2</m:t>
                                </m:r>
                              </m:oMath>
                            </m:oMathPara>
                          </a14:m>
                        </a:p>
                      </a:txBody>
                      <a:tcPr marL="51200" marR="51200" marT="15240" marB="15240" anchor="ctr">
                        <a:lnL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 anchor="t" lIns="76200" tIns="1524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en-US" sz="1200" dirty="0">
                              <a:effectLst/>
                            </a:rPr>
                            <a:t>5</a:t>
                          </a:r>
                        </a:p>
                      </a:txBody>
                      <a:tcPr marL="51200" marR="51200" marT="15240" marB="15240" anchor="ctr">
                        <a:lnL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 anchor="t" lIns="76200" tIns="1524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en-US" sz="1200" dirty="0">
                              <a:effectLst/>
                            </a:rPr>
                            <a:t>8</a:t>
                          </a:r>
                        </a:p>
                      </a:txBody>
                      <a:tcPr marL="51200" marR="51200" marT="15240" marB="15240" anchor="ctr">
                        <a:lnL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 anchor="t" lIns="76200" tIns="1524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en-US" sz="1200" dirty="0">
                              <a:effectLst/>
                            </a:rPr>
                            <a:t>13</a:t>
                          </a:r>
                        </a:p>
                      </a:txBody>
                      <a:tcPr marL="51200" marR="51200" marT="15240" marB="15240" anchor="ctr">
                        <a:lnL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 anchor="t" lIns="76200" tIns="1524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en-US" sz="1200" dirty="0">
                              <a:effectLst/>
                            </a:rPr>
                            <a:t>20</a:t>
                          </a:r>
                        </a:p>
                      </a:txBody>
                      <a:tcPr marL="51200" marR="51200" marT="15240" marB="15240" anchor="ctr">
                        <a:lnL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66700">
                    <a:tc>
                      <a:txBody>
                        <a:bodyPr anchor="t" lIns="76200" tIns="1524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en-US" sz="1200" dirty="0">
                              <a:effectLst/>
                            </a:rPr>
                            <a:t>​</a:t>
                          </a:r>
                          <a14:m>
                            <m:oMathPara>
                              <m:oMathParaPr>
                                <m:jc m:val="left"/>
                              </m:oMathParaPr>
                              <m:oMath>
                                <m:r>
                                  <m:rPr>
                                    <m:sty m:val="b"/>
                                  </m:rPr>
                                  <a:rPr lang="en-US" sz="1200" dirty="0">
                                    <a:solidFill>
                                      <a:srgbClr val="000000"/>
                                    </a:solidFill>
                                    <a:effectLst/>
                                  </a:rPr>
                                  <m:t>1</m:t>
                                </m:r>
                              </m:oMath>
                            </m:oMathPara>
                          </a14:m>
                        </a:p>
                      </a:txBody>
                      <a:tcPr marL="51200" marR="51200" marT="15240" marB="15240" anchor="ctr">
                        <a:lnL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 anchor="t" lIns="76200" tIns="1524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en-US" sz="1200" dirty="0">
                              <a:effectLst/>
                            </a:rPr>
                            <a:t>2</a:t>
                          </a:r>
                        </a:p>
                      </a:txBody>
                      <a:tcPr marL="51200" marR="51200" marT="15240" marB="15240" anchor="ctr">
                        <a:lnL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 anchor="t" lIns="76200" tIns="1524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en-US" sz="1200" dirty="0">
                              <a:effectLst/>
                            </a:rPr>
                            <a:t>5</a:t>
                          </a:r>
                        </a:p>
                      </a:txBody>
                      <a:tcPr marL="51200" marR="51200" marT="15240" marB="15240" anchor="ctr">
                        <a:lnL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 anchor="t" lIns="76200" tIns="1524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en-US" sz="1200" dirty="0">
                              <a:effectLst/>
                            </a:rPr>
                            <a:t>10</a:t>
                          </a:r>
                        </a:p>
                      </a:txBody>
                      <a:tcPr marL="51200" marR="51200" marT="15240" marB="15240" anchor="ctr">
                        <a:lnL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 anchor="t" lIns="76200" tIns="1524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en-US" sz="1200" dirty="0">
                              <a:effectLst/>
                            </a:rPr>
                            <a:t>17</a:t>
                          </a:r>
                        </a:p>
                      </a:txBody>
                      <a:tcPr marL="51200" marR="51200" marT="15240" marB="15240" anchor="ctr">
                        <a:lnL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66700">
                    <a:tc>
                      <a:txBody>
                        <a:bodyPr anchor="t" lIns="76200" tIns="1524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en-US" sz="1200" dirty="0">
                              <a:effectLst/>
                            </a:rPr>
                            <a:t>​</a:t>
                          </a:r>
                          <a14:m>
                            <m:oMathPara>
                              <m:oMathParaPr>
                                <m:jc m:val="left"/>
                              </m:oMathParaPr>
                              <m:oMath>
                                <m:r>
                                  <m:rPr>
                                    <m:sty m:val="b"/>
                                  </m:rPr>
                                  <a:rPr lang="en-US" sz="1200" dirty="0">
                                    <a:solidFill>
                                      <a:srgbClr val="000000"/>
                                    </a:solidFill>
                                    <a:effectLst/>
                                  </a:rPr>
                                  <m:t>4</m:t>
                                </m:r>
                              </m:oMath>
                            </m:oMathPara>
                          </a14:m>
                        </a:p>
                      </a:txBody>
                      <a:tcPr marL="51200" marR="51200" marT="15240" marB="15240" anchor="ctr">
                        <a:lnL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 anchor="t" lIns="76200" tIns="1524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en-US" sz="1200" dirty="0">
                              <a:effectLst/>
                            </a:rPr>
                            <a:t>17</a:t>
                          </a:r>
                        </a:p>
                      </a:txBody>
                      <a:tcPr marL="51200" marR="51200" marT="15240" marB="15240" anchor="ctr">
                        <a:lnL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 anchor="t" lIns="76200" tIns="1524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en-US" sz="1200" dirty="0">
                              <a:effectLst/>
                            </a:rPr>
                            <a:t>20</a:t>
                          </a:r>
                        </a:p>
                      </a:txBody>
                      <a:tcPr marL="51200" marR="51200" marT="15240" marB="15240" anchor="ctr">
                        <a:lnL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 anchor="t" lIns="76200" tIns="1524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en-US" sz="1200" dirty="0">
                              <a:effectLst/>
                            </a:rPr>
                            <a:t>25</a:t>
                          </a:r>
                        </a:p>
                      </a:txBody>
                      <a:tcPr marL="51200" marR="51200" marT="15240" marB="15240" anchor="ctr">
                        <a:lnL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 anchor="t" lIns="76200" tIns="1524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en-US" sz="1200" dirty="0">
                              <a:effectLst/>
                            </a:rPr>
                            <a:t>32</a:t>
                          </a:r>
                        </a:p>
                      </a:txBody>
                      <a:tcPr marL="51200" marR="51200" marT="15240" marB="15240" anchor="ctr">
                        <a:lnL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Choice>
        <mc:Fallback/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"/>
              <p:cNvSpPr/>
              <p:nvPr/>
            </p:nvSpPr>
            <p:spPr>
              <a:xfrm>
                <a:off x="1524000" y="3475864"/>
                <a:ext cx="9144000" cy="466725"/>
              </a:xfrm>
              <a:prstGeom prst="rect">
                <a:avLst/>
              </a:prstGeom>
            </p:spPr>
            <p:txBody>
              <a:bodyPr anchor="ctr" lIns="0" tIns="0" rIns="0" bIns="0">
                <a:noAutofit/>
              </a:bodyPr>
              <a:lstStyle/>
              <a:p>
                <a:pPr algn="ctr"/>
                <a14:m>
                  <m:oMathPara>
                    <m:oMath>
                      <m:m>
                        <m:mPr>
                          <m:plcHide m:val="1"/>
                          <m:cGpRule m:val="0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sz="12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sty m:val="i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f</m:t>
                            </m:r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sz="120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1200" dirty="0">
                                    <a:solidFill>
                                      <a:srgbClr val="000000"/>
                                    </a:solidFill>
                                    <a:effectLst/>
                                  </a:rPr>
                                  <m:t>1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sz="1200" dirty="0">
                                    <a:solidFill>
                                      <a:srgbClr val="000000"/>
                                    </a:solidFill>
                                    <a:effectLst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sz="120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1200" dirty="0">
                                    <a:solidFill>
                                      <a:srgbClr val="000000"/>
                                    </a:solidFill>
                                    <a:effectLst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sz="1200" dirty="0">
                                    <a:solidFill>
                                      <a:srgbClr val="000000"/>
                                    </a:solidFill>
                                    <a:effectLst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5</m:t>
                            </m:r>
                          </m:e>
                        </m:mr>
                        <m:mr>
                          <m:e>
                            <m:r>
                              <m:rPr>
                                <m:sty m:val="i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f</m:t>
                            </m:r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sz="120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1200" dirty="0">
                                    <a:solidFill>
                                      <a:srgbClr val="000000"/>
                                    </a:solidFill>
                                    <a:effectLst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sz="1200" dirty="0">
                                    <a:solidFill>
                                      <a:srgbClr val="000000"/>
                                    </a:solidFill>
                                    <a:effectLst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sz="120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1200" dirty="0">
                                    <a:solidFill>
                                      <a:srgbClr val="000000"/>
                                    </a:solidFill>
                                    <a:effectLst/>
                                  </a:rPr>
                                  <m:t>4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sz="1200" dirty="0">
                                    <a:solidFill>
                                      <a:srgbClr val="000000"/>
                                    </a:solidFill>
                                    <a:effectLst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20</m:t>
                            </m:r>
                          </m:e>
                        </m:mr>
                      </m:m>
                    </m:oMath>
                  </m:oMathPara>
                </a14:m>
              </a:p>
            </p:txBody>
          </p:sp>
        </mc:Choice>
        <mc:Fallback/>
      </mc:AlternateContent>
      <p:sp>
        <p:nvSpPr>
          <p:cNvPr id="2" name="Text"/>
          <p:cNvSpPr/>
          <p:nvPr/>
        </p:nvSpPr>
        <p:spPr>
          <a:xfrm>
            <a:off x="1524000" y="4094989"/>
            <a:ext cx="9144000" cy="342900"/>
          </a:xfrm>
          <a:prstGeom prst="rect">
            <a:avLst/>
          </a:prstGeom>
        </p:spPr>
        <p:txBody>
          <a:bodyPr anchor="t" lIns="0" tIns="0" rIns="0" bIns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800" dirty="0" b="1">
                <a:effectLst/>
              </a:rPr>
              <a:t>Functions of Several Variables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"/>
              <p:cNvSpPr/>
              <p:nvPr/>
            </p:nvSpPr>
            <p:spPr>
              <a:xfrm>
                <a:off x="1524000" y="4627628"/>
                <a:ext cx="9144000" cy="457200"/>
              </a:xfrm>
              <a:prstGeom prst="rect">
                <a:avLst/>
              </a:prstGeom>
            </p:spPr>
            <p:txBody>
              <a:bodyPr anchor="t" lIns="0" tIns="0" rIns="0" bIns="0"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1200" dirty="0">
                    <a:effectLst/>
                  </a:rPr>
                  <a:t>The Level Curves of the function are the curves with equation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f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(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x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,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y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)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=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k</m:t>
                    </m:r>
                  </m:oMath>
                </a14:m>
                <a:r>
                  <a:rPr lang="en-US" sz="1200" dirty="0">
                    <a:effectLst/>
                  </a:rPr>
                  <a:t> projected down on the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x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y</m:t>
                    </m:r>
                  </m:oMath>
                </a14:m>
                <a:r>
                  <a:rPr lang="en-US" sz="1200" dirty="0">
                    <a:effectLst/>
                  </a:rPr>
                  <a:t>-plane. The graph of the level curves is called the contour plot</a:t>
                </a:r>
              </a:p>
            </p:txBody>
          </p:sp>
        </mc:Choice>
        <mc:Fallback/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"/>
              <p:cNvSpPr/>
              <p:nvPr/>
            </p:nvSpPr>
            <p:spPr>
              <a:xfrm>
                <a:off x="1524000" y="457200"/>
                <a:ext cx="9144000" cy="914400"/>
              </a:xfrm>
              <a:prstGeom prst="rect">
                <a:avLst/>
              </a:prstGeom>
            </p:spPr>
            <p:txBody>
              <a:bodyPr anchor="t" lIns="0" tIns="0" rIns="0" bIns="0"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1200" dirty="0">
                    <a:effectLst/>
                  </a:rPr>
                  <a:t>View from the top</a:t>
                </a:r>
                <a:br>
                  <a:rPr lang="en-US" sz="1200" dirty="0"/>
                </a:br>
                <a:r>
                  <a:rPr lang="en-US" sz="1200" dirty="0">
                    <a:effectLst/>
                  </a:rPr>
                  <a:t> Contour plot</a:t>
                </a:r>
                <a:br>
                  <a:rPr lang="en-US" sz="1200" dirty="0"/>
                </a:br>
                <a:r>
                  <a:rPr lang="en-US" sz="1200" dirty="0">
                    <a:effectLst/>
                  </a:rPr>
                  <a:t> of the function</a:t>
                </a:r>
                <a:br>
                  <a:rPr lang="en-US" sz="1200" dirty="0"/>
                </a:br>
                <a:r>
                  <a:rPr lang="en-US" sz="1200" dirty="0">
                    <a:effectLst/>
                  </a:rPr>
                  <a:t>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i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f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(</m:t>
                      </m:r>
                      <m:r>
                        <m:rPr>
                          <m:sty m:val="i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x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,</m:t>
                      </m:r>
                      <m:r>
                        <m:rPr>
                          <m:sty m:val="i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y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=</m:t>
                      </m:r>
                      <m:sSup>
                        <m:sSupPr>
                          <m:ctrlPr>
                            <a:rPr sz="12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i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+</m:t>
                      </m:r>
                      <m:sSup>
                        <m:sSupPr>
                          <m:ctrlPr>
                            <a:rPr sz="12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i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y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/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"/>
              <p:cNvSpPr/>
              <p:nvPr/>
            </p:nvSpPr>
            <p:spPr>
              <a:xfrm>
                <a:off x="1524000" y="1371600"/>
                <a:ext cx="9144000" cy="914400"/>
              </a:xfrm>
              <a:prstGeom prst="rect">
                <a:avLst/>
              </a:prstGeom>
            </p:spPr>
            <p:txBody>
              <a:bodyPr anchor="t" lIns="0" tIns="0" rIns="0" bIns="0"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1200" dirty="0">
                    <a:effectLst/>
                  </a:rPr>
                  <a:t>View from the top</a:t>
                </a:r>
                <a:br>
                  <a:rPr lang="en-US" sz="1200" dirty="0"/>
                </a:br>
                <a:r>
                  <a:rPr lang="en-US" sz="1200" dirty="0">
                    <a:effectLst/>
                  </a:rPr>
                  <a:t> Contour plot</a:t>
                </a:r>
                <a:br>
                  <a:rPr lang="en-US" sz="1200" dirty="0"/>
                </a:br>
                <a:r>
                  <a:rPr lang="en-US" sz="1200" dirty="0">
                    <a:effectLst/>
                  </a:rPr>
                  <a:t> of the function</a:t>
                </a:r>
                <a:br>
                  <a:rPr lang="en-US" sz="1200" dirty="0"/>
                </a:br>
                <a:r>
                  <a:rPr lang="en-US" sz="1200" dirty="0">
                    <a:effectLst/>
                  </a:rPr>
                  <a:t>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i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f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(</m:t>
                      </m:r>
                      <m:r>
                        <m:rPr>
                          <m:sty m:val="i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x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,</m:t>
                      </m:r>
                      <m:r>
                        <m:rPr>
                          <m:sty m:val="i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y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=</m:t>
                      </m:r>
                      <m:sSup>
                        <m:sSupPr>
                          <m:ctrlPr>
                            <a:rPr sz="12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i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+</m:t>
                      </m:r>
                      <m:sSup>
                        <m:sSupPr>
                          <m:ctrlPr>
                            <a:rPr sz="12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i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y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/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"/>
              <p:cNvSpPr/>
              <p:nvPr/>
            </p:nvSpPr>
            <p:spPr>
              <a:xfrm>
                <a:off x="1524000" y="457200"/>
                <a:ext cx="9144000" cy="228600"/>
              </a:xfrm>
              <a:prstGeom prst="rect">
                <a:avLst/>
              </a:prstGeom>
            </p:spPr>
            <p:txBody>
              <a:bodyPr anchor="t" lIns="0" tIns="0" rIns="0" bIns="0"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1200" dirty="0">
                    <a:effectLst/>
                  </a:rPr>
                  <a:t>The level curves are the traces of the graph of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f</m:t>
                    </m:r>
                  </m:oMath>
                </a14:m>
                <a:r>
                  <a:rPr lang="en-US" sz="1200" dirty="0">
                    <a:effectLst/>
                  </a:rPr>
                  <a:t> in the horizontal planes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z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=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k</m:t>
                    </m:r>
                  </m:oMath>
                </a14:m>
                <a:r>
                  <a:rPr lang="en-US" sz="1200" dirty="0">
                    <a:effectLst/>
                  </a:rPr>
                  <a:t> projected in the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x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y</m:t>
                    </m:r>
                  </m:oMath>
                </a14:m>
                <a:r>
                  <a:rPr lang="en-US" sz="1200" dirty="0">
                    <a:effectLst/>
                  </a:rPr>
                  <a:t>-plane</a:t>
                </a:r>
              </a:p>
            </p:txBody>
          </p:sp>
        </mc:Choice>
        <mc:Fallback/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"/>
              <p:cNvSpPr/>
              <p:nvPr/>
            </p:nvSpPr>
            <p:spPr>
              <a:xfrm>
                <a:off x="1524000" y="838200"/>
                <a:ext cx="9144000" cy="1171575"/>
              </a:xfrm>
              <a:prstGeom prst="rect">
                <a:avLst/>
              </a:prstGeom>
            </p:spPr>
            <p:txBody>
              <a:bodyPr anchor="ctr" lIns="0" tIns="0" rIns="0" bIns="0">
                <a:noAutofit/>
              </a:bodyPr>
              <a:lstStyle/>
              <a:p>
                <a:pPr algn="ctr"/>
                <a14:m>
                  <m:oMathPara>
                    <m:oMath>
                      <m:r>
                        <m:rPr>
                          <m:sty m:val="i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f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(</m:t>
                      </m:r>
                      <m:r>
                        <m:rPr>
                          <m:sty m:val="i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x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,</m:t>
                      </m:r>
                      <m:r>
                        <m:rPr>
                          <m:sty m:val="i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y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=</m:t>
                      </m:r>
                      <m:r>
                        <m:rPr>
                          <m:sty m:val="i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k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 xml:space="preserve"> </m:t>
                      </m:r>
                      <m:m>
                        <m:mPr>
                          <m:plcHide m:val="1"/>
                          <m:cGpRule m:val="0"/>
                          <m:mcs>
                            <m:mc>
                              <m:mcPr>
                                <m:count m:val="1"/>
                                <m:mcJc m:val="left"/>
                              </m:mcPr>
                            </m:mc>
                            <m:mc>
                              <m:mcPr>
                                <m:count m:val="1"/>
                                <m:mcJc m:val="left"/>
                              </m:mcPr>
                            </m:mc>
                          </m:mcs>
                          <m:ctrlPr>
                            <a:rPr sz="12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sty m:val="i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:</m:t>
                            </m:r>
                          </m:e>
                          <m:e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 circle </m:t>
                            </m:r>
                          </m:e>
                        </m:mr>
                        <m:mr>
                          <m:e>
                            <m:r>
                              <m:rPr>
                                <m:sty m:val="i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:</m:t>
                            </m:r>
                          </m:e>
                          <m:e>
                            <m:sSup>
                              <m:sSupPr>
                                <m:ctrlPr>
                                  <a:rPr sz="120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i"/>
                                  </m:rPr>
                                  <a:rPr lang="en-US" sz="1200" dirty="0">
                                    <a:solidFill>
                                      <a:srgbClr val="000000"/>
                                    </a:solidFill>
                                    <a:effectLst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sz="1200" dirty="0">
                                    <a:solidFill>
                                      <a:srgbClr val="000000"/>
                                    </a:solidFill>
                                    <a:effectLst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sz="120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i"/>
                                  </m:rPr>
                                  <a:rPr lang="en-US" sz="1200" dirty="0">
                                    <a:solidFill>
                                      <a:srgbClr val="000000"/>
                                    </a:solidFill>
                                    <a:effectLst/>
                                  </a:rPr>
                                  <m:t>y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sz="1200" dirty="0">
                                    <a:solidFill>
                                      <a:srgbClr val="000000"/>
                                    </a:solidFill>
                                    <a:effectLst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1</m:t>
                            </m:r>
                          </m:e>
                        </m:mr>
                        <m:mr>
                          <m:e>
                            <m:r>
                              <m:rPr>
                                <m:sty m:val="i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:</m:t>
                            </m:r>
                          </m:e>
                          <m:e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 circle </m:t>
                            </m:r>
                          </m:e>
                        </m:mr>
                        <m:mr>
                          <m:e>
                            <m:r>
                              <m:rPr>
                                <m:sty m:val="i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2</m:t>
                            </m:r>
                          </m:e>
                          <m:e>
                            <m:sSup>
                              <m:sSupPr>
                                <m:ctrlPr>
                                  <a:rPr sz="120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i"/>
                                  </m:rPr>
                                  <a:rPr lang="en-US" sz="1200" dirty="0">
                                    <a:solidFill>
                                      <a:srgbClr val="000000"/>
                                    </a:solidFill>
                                    <a:effectLst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sz="1200" dirty="0">
                                    <a:solidFill>
                                      <a:srgbClr val="000000"/>
                                    </a:solidFill>
                                    <a:effectLst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sz="120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i"/>
                                  </m:rPr>
                                  <a:rPr lang="en-US" sz="1200" dirty="0">
                                    <a:solidFill>
                                      <a:srgbClr val="000000"/>
                                    </a:solidFill>
                                    <a:effectLst/>
                                  </a:rPr>
                                  <m:t>y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sz="1200" dirty="0">
                                    <a:solidFill>
                                      <a:srgbClr val="000000"/>
                                    </a:solidFill>
                                    <a:effectLst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2</m:t>
                            </m:r>
                          </m:e>
                        </m:mr>
                        <m:mr>
                          <m:e>
                            <m:sSup>
                              <m:sSupPr>
                                <m:ctrlPr>
                                  <a:rPr sz="120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i"/>
                                  </m:rPr>
                                  <a:rPr lang="en-US" sz="1200" dirty="0">
                                    <a:solidFill>
                                      <a:srgbClr val="000000"/>
                                    </a:solidFill>
                                    <a:effectLst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sz="1200" dirty="0">
                                    <a:solidFill>
                                      <a:srgbClr val="000000"/>
                                    </a:solidFill>
                                    <a:effectLst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sz="120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i"/>
                                  </m:rPr>
                                  <a:rPr lang="en-US" sz="1200" dirty="0">
                                    <a:solidFill>
                                      <a:srgbClr val="000000"/>
                                    </a:solidFill>
                                    <a:effectLst/>
                                  </a:rPr>
                                  <m:t>y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sz="1200" dirty="0">
                                    <a:solidFill>
                                      <a:srgbClr val="000000"/>
                                    </a:solidFill>
                                    <a:effectLst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3</m:t>
                            </m:r>
                          </m:e>
                          <m:e>
                            <m:r>
                              <m:t xml:space="preserve"> </m:t>
                            </m:r>
                          </m:e>
                        </m:mr>
                      </m:m>
                    </m:oMath>
                  </m:oMathPara>
                </a14:m>
              </a:p>
            </p:txBody>
          </p:sp>
        </mc:Choice>
        <mc:Fallback/>
      </mc:AlternateContent>
      <p:sp>
        <p:nvSpPr>
          <p:cNvPr id="2" name="Text"/>
          <p:cNvSpPr/>
          <p:nvPr/>
        </p:nvSpPr>
        <p:spPr>
          <a:xfrm>
            <a:off x="1524000" y="2162175"/>
            <a:ext cx="9144000" cy="342900"/>
          </a:xfrm>
          <a:prstGeom prst="rect">
            <a:avLst/>
          </a:prstGeom>
        </p:spPr>
        <p:txBody>
          <a:bodyPr anchor="t" lIns="0" tIns="0" rIns="0" bIns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800" dirty="0" b="1">
                <a:effectLst/>
              </a:rPr>
              <a:t>Functions of Several Variables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"/>
              <p:cNvSpPr/>
              <p:nvPr/>
            </p:nvSpPr>
            <p:spPr>
              <a:xfrm>
                <a:off x="1524000" y="2694814"/>
                <a:ext cx="9144000" cy="228600"/>
              </a:xfrm>
              <a:prstGeom prst="rect">
                <a:avLst/>
              </a:prstGeom>
            </p:spPr>
            <p:txBody>
              <a:bodyPr anchor="t" lIns="0" tIns="0" rIns="0" bIns="0"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1200" dirty="0">
                    <a:effectLst/>
                  </a:rPr>
                  <a:t>Example of surface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z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=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f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(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x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,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y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)</m:t>
                    </m:r>
                  </m:oMath>
                </a14:m>
                <a:r>
                  <a:rPr lang="en-US" sz="1200" dirty="0">
                    <a:effectLst/>
                  </a:rPr>
                  <a:t> with traces on the planes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z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=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k</m:t>
                    </m:r>
                  </m:oMath>
                </a14:m>
                <a:r>
                  <a:rPr lang="en-US" sz="1200" dirty="0">
                    <a:effectLst/>
                  </a:rPr>
                  <a:t> projected down in the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x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y</m:t>
                    </m:r>
                  </m:oMath>
                </a14:m>
                <a:r>
                  <a:rPr lang="en-US" sz="1200" dirty="0">
                    <a:effectLst/>
                  </a:rPr>
                  <a:t>-plane.</a:t>
                </a:r>
              </a:p>
            </p:txBody>
          </p:sp>
        </mc:Choice>
        <mc:Fallback/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"/>
          <p:cNvSpPr/>
          <p:nvPr/>
        </p:nvSpPr>
        <p:spPr>
          <a:xfrm>
            <a:off x="1524000" y="457200"/>
            <a:ext cx="9144000" cy="5943600"/>
          </a:xfrm>
          <a:prstGeom prst="rect">
            <a:avLst/>
          </a:prstGeom>
        </p:spPr>
        <p:txBody>
          <a:bodyPr anchor="t" lIns="0" tIns="0" rIns="0" bIns="0">
            <a:noAutofit/>
          </a:bodyPr>
          <a:lstStyle/>
          <a:p>
            <a:pPr>
              <a:spcAft>
                <a:spcPts val="48000"/>
              </a:spcAft>
            </a:pPr>
            <a:r>
              <a:rPr lang="en-US" sz="100" dirty="0">
                <a:effectLst/>
              </a:rPr>
              <a:t> </a:t>
            </a:r>
          </a:p>
        </p:txBody>
      </p:sp>
      <p:pic>
        <p:nvPicPr>
          <p:cNvPr id="5" name="image-5490d26574bf5d8443ec3334c58301a35152c774.jpg"/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524000" y="457200"/>
            <a:ext cx="779145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/>
          <p:nvPr/>
        </p:nvSpPr>
        <p:spPr>
          <a:xfrm>
            <a:off x="1524000" y="457200"/>
            <a:ext cx="9144000" cy="342900"/>
          </a:xfrm>
          <a:prstGeom prst="rect">
            <a:avLst/>
          </a:prstGeom>
        </p:spPr>
        <p:txBody>
          <a:bodyPr anchor="t" lIns="0" tIns="0" rIns="0" bIns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800" dirty="0" b="1">
                <a:effectLst/>
              </a:rPr>
              <a:t>Functions of Several Variables</a:t>
            </a:r>
          </a:p>
        </p:txBody>
      </p:sp>
      <p:sp>
        <p:nvSpPr>
          <p:cNvPr id="2" name="Text"/>
          <p:cNvSpPr/>
          <p:nvPr/>
        </p:nvSpPr>
        <p:spPr>
          <a:xfrm>
            <a:off x="1524000" y="989839"/>
            <a:ext cx="9144000" cy="5019675"/>
          </a:xfrm>
          <a:prstGeom prst="rect">
            <a:avLst/>
          </a:prstGeom>
        </p:spPr>
        <p:txBody>
          <a:bodyPr anchor="t" lIns="0" tIns="0" rIns="0" bIns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effectLst/>
              </a:rPr>
              <a:t>More Examples of contour plots:</a:t>
            </a:r>
          </a:p>
          <a:p>
            <a:pPr>
              <a:spcAft>
                <a:spcPts val="36000"/>
              </a:spcAft>
            </a:pPr>
            <a:r>
              <a:rPr lang="en-US" sz="100" dirty="0">
                <a:effectLst/>
              </a:rPr>
              <a:t> </a:t>
            </a:r>
          </a:p>
        </p:txBody>
      </p:sp>
      <p:pic>
        <p:nvPicPr>
          <p:cNvPr id="4" name="image-4eee826c3d7911cf8f7b7711046a2a2198d1fd6b.jpg"/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524000" y="1218439"/>
            <a:ext cx="4419600" cy="44100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"/>
          <p:cNvSpPr/>
          <p:nvPr/>
        </p:nvSpPr>
        <p:spPr>
          <a:xfrm>
            <a:off x="1524000" y="457200"/>
            <a:ext cx="9144000" cy="4924425"/>
          </a:xfrm>
          <a:prstGeom prst="rect">
            <a:avLst/>
          </a:prstGeom>
        </p:spPr>
        <p:txBody>
          <a:bodyPr anchor="t" lIns="0" tIns="0" rIns="0" bIns="0">
            <a:noAutofit/>
          </a:bodyPr>
          <a:lstStyle/>
          <a:p>
            <a:pPr>
              <a:spcAft>
                <a:spcPts val="37000"/>
              </a:spcAft>
            </a:pPr>
            <a:r>
              <a:rPr lang="en-US" sz="100" dirty="0">
                <a:effectLst/>
              </a:rPr>
              <a:t> </a:t>
            </a:r>
          </a:p>
        </p:txBody>
      </p:sp>
      <p:pic>
        <p:nvPicPr>
          <p:cNvPr id="6" name="image-273a05b2fded4bf7781940a4e434905e1e18f750.jpg"/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524000" y="457200"/>
            <a:ext cx="4619625" cy="45434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"/>
          <p:cNvSpPr/>
          <p:nvPr/>
        </p:nvSpPr>
        <p:spPr>
          <a:xfrm>
            <a:off x="1524000" y="457200"/>
            <a:ext cx="9144000" cy="4876800"/>
          </a:xfrm>
          <a:prstGeom prst="rect">
            <a:avLst/>
          </a:prstGeom>
        </p:spPr>
        <p:txBody>
          <a:bodyPr anchor="t" lIns="0" tIns="0" rIns="0" bIns="0">
            <a:noAutofit/>
          </a:bodyPr>
          <a:lstStyle/>
          <a:p>
            <a:pPr>
              <a:spcAft>
                <a:spcPts val="36600"/>
              </a:spcAft>
            </a:pPr>
            <a:r>
              <a:rPr lang="en-US" sz="100" dirty="0">
                <a:effectLst/>
              </a:rPr>
              <a:t> </a:t>
            </a:r>
          </a:p>
        </p:txBody>
      </p:sp>
      <p:pic>
        <p:nvPicPr>
          <p:cNvPr id="8" name="image-1574fd3edec41bd0052f177623ee5f0bf583ab71.jpg"/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524000" y="457200"/>
            <a:ext cx="4619625" cy="4495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"/>
          <p:cNvSpPr/>
          <p:nvPr/>
        </p:nvSpPr>
        <p:spPr>
          <a:xfrm>
            <a:off x="1524000" y="457200"/>
            <a:ext cx="9144000" cy="4924425"/>
          </a:xfrm>
          <a:prstGeom prst="rect">
            <a:avLst/>
          </a:prstGeom>
        </p:spPr>
        <p:txBody>
          <a:bodyPr anchor="t" lIns="0" tIns="0" rIns="0" bIns="0">
            <a:noAutofit/>
          </a:bodyPr>
          <a:lstStyle/>
          <a:p>
            <a:pPr>
              <a:spcAft>
                <a:spcPts val="37000"/>
              </a:spcAft>
            </a:pPr>
            <a:r>
              <a:rPr lang="en-US" sz="100" dirty="0">
                <a:effectLst/>
              </a:rPr>
              <a:t> </a:t>
            </a:r>
          </a:p>
        </p:txBody>
      </p:sp>
      <p:pic>
        <p:nvPicPr>
          <p:cNvPr id="10" name="image-a1ce677a62134f5fd348849ba2ffb2459195cf0e.jpg"/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524000" y="457200"/>
            <a:ext cx="4505325" cy="45434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"/>
          <p:cNvSpPr/>
          <p:nvPr/>
        </p:nvSpPr>
        <p:spPr>
          <a:xfrm>
            <a:off x="1524000" y="457200"/>
            <a:ext cx="9144000" cy="4495800"/>
          </a:xfrm>
          <a:prstGeom prst="rect">
            <a:avLst/>
          </a:prstGeom>
        </p:spPr>
        <p:txBody>
          <a:bodyPr anchor="t" lIns="0" tIns="0" rIns="0" bIns="0">
            <a:noAutofit/>
          </a:bodyPr>
          <a:lstStyle/>
          <a:p>
            <a:pPr>
              <a:spcAft>
                <a:spcPts val="36600"/>
              </a:spcAft>
            </a:pPr>
            <a:r>
              <a:rPr lang="en-US" sz="100" dirty="0">
                <a:effectLst/>
              </a:rPr>
              <a:t> </a:t>
            </a:r>
          </a:p>
        </p:txBody>
      </p:sp>
      <p:pic>
        <p:nvPicPr>
          <p:cNvPr id="12" name="image-28b9cc8166be4e47203a21e94cac7c50173a1f5b.jpg"/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524000" y="457200"/>
            <a:ext cx="4248150" cy="4495800"/>
          </a:xfrm>
          <a:prstGeom prst="rect">
            <a:avLst/>
          </a:prstGeom>
        </p:spPr>
      </p:pic>
      <p:sp>
        <p:nvSpPr>
          <p:cNvPr id="2" name="Text"/>
          <p:cNvSpPr/>
          <p:nvPr/>
        </p:nvSpPr>
        <p:spPr>
          <a:xfrm>
            <a:off x="1524000" y="5105400"/>
            <a:ext cx="9144000" cy="228600"/>
          </a:xfrm>
          <a:prstGeom prst="rect">
            <a:avLst/>
          </a:prstGeom>
        </p:spPr>
        <p:txBody>
          <a:bodyPr anchor="t" lIns="0" tIns="0" rIns="0" bIns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effectLst/>
              </a:rPr>
              <a:t>Concentric circles (ellipses): minimum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"/>
          <p:cNvSpPr/>
          <p:nvPr/>
        </p:nvSpPr>
        <p:spPr>
          <a:xfrm>
            <a:off x="1524000" y="457200"/>
            <a:ext cx="9144000" cy="4743450"/>
          </a:xfrm>
          <a:prstGeom prst="rect">
            <a:avLst/>
          </a:prstGeom>
        </p:spPr>
        <p:txBody>
          <a:bodyPr anchor="t" lIns="0" tIns="0" rIns="0" bIns="0">
            <a:noAutofit/>
          </a:bodyPr>
          <a:lstStyle/>
          <a:p>
            <a:pPr>
              <a:spcAft>
                <a:spcPts val="38600"/>
              </a:spcAft>
            </a:pPr>
            <a:r>
              <a:rPr lang="en-US" sz="100" dirty="0">
                <a:effectLst/>
              </a:rPr>
              <a:t> </a:t>
            </a:r>
          </a:p>
        </p:txBody>
      </p:sp>
      <p:pic>
        <p:nvPicPr>
          <p:cNvPr id="5" name="image-b9966a52bee72d91bee528074ab2e709e75c32de.jpg"/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524000" y="457200"/>
            <a:ext cx="4543425" cy="4743450"/>
          </a:xfrm>
          <a:prstGeom prst="rect">
            <a:avLst/>
          </a:prstGeom>
        </p:spPr>
      </p:pic>
      <p:sp>
        <p:nvSpPr>
          <p:cNvPr id="2" name="Text"/>
          <p:cNvSpPr/>
          <p:nvPr/>
        </p:nvSpPr>
        <p:spPr>
          <a:xfrm>
            <a:off x="1524000" y="5353050"/>
            <a:ext cx="9144000" cy="228600"/>
          </a:xfrm>
          <a:prstGeom prst="rect">
            <a:avLst/>
          </a:prstGeom>
        </p:spPr>
        <p:txBody>
          <a:bodyPr anchor="t" lIns="0" tIns="0" rIns="0" bIns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effectLst/>
              </a:rPr>
              <a:t>Concentric circles (ellipses): maximum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"/>
          <p:cNvSpPr/>
          <p:nvPr/>
        </p:nvSpPr>
        <p:spPr>
          <a:xfrm>
            <a:off x="1524000" y="457200"/>
            <a:ext cx="9144000" cy="4419600"/>
          </a:xfrm>
          <a:prstGeom prst="rect">
            <a:avLst/>
          </a:prstGeom>
        </p:spPr>
        <p:txBody>
          <a:bodyPr anchor="t" lIns="0" tIns="0" rIns="0" bIns="0">
            <a:noAutofit/>
          </a:bodyPr>
          <a:lstStyle/>
          <a:p>
            <a:pPr>
              <a:spcAft>
                <a:spcPts val="36000"/>
              </a:spcAft>
            </a:pPr>
            <a:r>
              <a:rPr lang="en-US" sz="100" dirty="0">
                <a:effectLst/>
              </a:rPr>
              <a:t> </a:t>
            </a:r>
          </a:p>
        </p:txBody>
      </p:sp>
      <p:pic>
        <p:nvPicPr>
          <p:cNvPr id="5" name="image-b2ccd6c5d30b68a7897ff97f2b9f3c3d6e5821ba.jpg"/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524000" y="457200"/>
            <a:ext cx="4705350" cy="4419600"/>
          </a:xfrm>
          <a:prstGeom prst="rect">
            <a:avLst/>
          </a:prstGeom>
        </p:spPr>
      </p:pic>
      <p:sp>
        <p:nvSpPr>
          <p:cNvPr id="2" name="Text"/>
          <p:cNvSpPr/>
          <p:nvPr/>
        </p:nvSpPr>
        <p:spPr>
          <a:xfrm>
            <a:off x="1524000" y="5029200"/>
            <a:ext cx="9144000" cy="228600"/>
          </a:xfrm>
          <a:prstGeom prst="rect">
            <a:avLst/>
          </a:prstGeom>
        </p:spPr>
        <p:txBody>
          <a:bodyPr anchor="t" lIns="0" tIns="0" rIns="0" bIns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effectLst/>
              </a:rPr>
              <a:t>Hyperbolas: saddle point</a:t>
            </a:r>
          </a:p>
        </p:txBody>
      </p:sp>
      <p:sp>
        <p:nvSpPr>
          <p:cNvPr id="2" name="Text"/>
          <p:cNvSpPr/>
          <p:nvPr/>
        </p:nvSpPr>
        <p:spPr>
          <a:xfrm>
            <a:off x="1524000" y="5410200"/>
            <a:ext cx="9144000" cy="228600"/>
          </a:xfrm>
          <a:prstGeom prst="rect">
            <a:avLst/>
          </a:prstGeom>
        </p:spPr>
        <p:txBody>
          <a:bodyPr anchor="t" lIns="0" tIns="0" rIns="0" bIns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effectLst/>
              </a:rPr>
              <a:t>Closely spaced contours: steep slope in 3D. Widely spaced contours: flat 3D surface.</a:t>
            </a:r>
          </a:p>
        </p:txBody>
      </p:sp>
      <p:sp>
        <p:nvSpPr>
          <p:cNvPr id="2" name="Text"/>
          <p:cNvSpPr/>
          <p:nvPr/>
        </p:nvSpPr>
        <p:spPr>
          <a:xfrm>
            <a:off x="1524000" y="5791200"/>
            <a:ext cx="9144000" cy="342900"/>
          </a:xfrm>
          <a:prstGeom prst="rect">
            <a:avLst/>
          </a:prstGeom>
        </p:spPr>
        <p:txBody>
          <a:bodyPr anchor="t" lIns="0" tIns="0" rIns="0" bIns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800" dirty="0" b="1">
                <a:effectLst/>
              </a:rPr>
              <a:t>Functions of Several Variables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"/>
              <p:cNvSpPr/>
              <p:nvPr/>
            </p:nvSpPr>
            <p:spPr>
              <a:xfrm>
                <a:off x="1524000" y="457200"/>
                <a:ext cx="9144000" cy="228600"/>
              </a:xfrm>
              <a:prstGeom prst="rect">
                <a:avLst/>
              </a:prstGeom>
            </p:spPr>
            <p:txBody>
              <a:bodyPr anchor="t" lIns="0" tIns="0" rIns="0" bIns="0"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1200" dirty="0">
                    <a:effectLst/>
                  </a:rPr>
                  <a:t>Hyperbolic paraboloid (Saddle)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z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=</m:t>
                    </m:r>
                    <m:sSup>
                      <m:sSupPr>
                        <m:ctrlPr>
                          <a:rPr sz="12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i"/>
                          </m:rPr>
                          <a:rPr lang="en-US" sz="1200" dirty="0">
                            <a:solidFill>
                              <a:srgbClr val="000000"/>
                            </a:solidFill>
                            <a:effectLst/>
                          </a:rPr>
                          <m:t>x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200" dirty="0">
                            <a:solidFill>
                              <a:srgbClr val="000000"/>
                            </a:solidFill>
                            <a:effectLst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−</m:t>
                    </m:r>
                    <m:sSup>
                      <m:sSupPr>
                        <m:ctrlPr>
                          <a:rPr sz="12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i"/>
                          </m:rPr>
                          <a:rPr lang="en-US" sz="1200" dirty="0">
                            <a:solidFill>
                              <a:srgbClr val="000000"/>
                            </a:solidFill>
                            <a:effectLst/>
                          </a:rPr>
                          <m:t>y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200" dirty="0">
                            <a:solidFill>
                              <a:srgbClr val="000000"/>
                            </a:solidFill>
                            <a:effectLst/>
                          </a:rPr>
                          <m:t>2</m:t>
                        </m:r>
                      </m:sup>
                    </m:sSup>
                  </m:oMath>
                </a14:m>
              </a:p>
            </p:txBody>
          </p:sp>
        </mc:Choice>
        <mc:Fallback/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"/>
          <p:cNvSpPr/>
          <p:nvPr/>
        </p:nvSpPr>
        <p:spPr>
          <a:xfrm>
            <a:off x="1524000" y="457200"/>
            <a:ext cx="9144000" cy="5943600"/>
          </a:xfrm>
          <a:prstGeom prst="rect">
            <a:avLst/>
          </a:prstGeom>
        </p:spPr>
        <p:txBody>
          <a:bodyPr anchor="t" lIns="0" tIns="0" rIns="0" bIns="0">
            <a:noAutofit/>
          </a:bodyPr>
          <a:lstStyle/>
          <a:p>
            <a:pPr>
              <a:spcAft>
                <a:spcPts val="48000"/>
              </a:spcAft>
            </a:pPr>
            <a:r>
              <a:rPr lang="en-US" sz="100" dirty="0">
                <a:effectLst/>
              </a:rPr>
              <a:t> </a:t>
            </a:r>
          </a:p>
        </p:txBody>
      </p:sp>
      <p:pic>
        <p:nvPicPr>
          <p:cNvPr id="5" name="image-56dac89451f068d1840dff176d12ab8f6fd75f51.jpg"/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524000" y="457200"/>
            <a:ext cx="5191125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"/>
              <p:cNvSpPr/>
              <p:nvPr/>
            </p:nvSpPr>
            <p:spPr>
              <a:xfrm>
                <a:off x="1524000" y="457200"/>
                <a:ext cx="9144000" cy="228600"/>
              </a:xfrm>
              <a:prstGeom prst="rect">
                <a:avLst/>
              </a:prstGeom>
            </p:spPr>
            <p:txBody>
              <a:bodyPr anchor="t" lIns="0" tIns="0" rIns="0" bIns="0"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1200" dirty="0">
                    <a:effectLst/>
                  </a:rPr>
                  <a:t>Level curves: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sSup>
                      <m:sSupPr>
                        <m:ctrlPr>
                          <a:rPr sz="12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i"/>
                          </m:rPr>
                          <a:rPr lang="en-US" sz="1200" dirty="0">
                            <a:solidFill>
                              <a:srgbClr val="000000"/>
                            </a:solidFill>
                            <a:effectLst/>
                          </a:rPr>
                          <m:t>x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200" dirty="0">
                            <a:solidFill>
                              <a:srgbClr val="000000"/>
                            </a:solidFill>
                            <a:effectLst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−</m:t>
                    </m:r>
                    <m:sSup>
                      <m:sSupPr>
                        <m:ctrlPr>
                          <a:rPr sz="12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i"/>
                          </m:rPr>
                          <a:rPr lang="en-US" sz="1200" dirty="0">
                            <a:solidFill>
                              <a:srgbClr val="000000"/>
                            </a:solidFill>
                            <a:effectLst/>
                          </a:rPr>
                          <m:t>y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200" dirty="0">
                            <a:solidFill>
                              <a:srgbClr val="000000"/>
                            </a:solidFill>
                            <a:effectLst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=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k</m:t>
                    </m:r>
                  </m:oMath>
                </a14:m>
              </a:p>
            </p:txBody>
          </p:sp>
        </mc:Choice>
        <mc:Fallback/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"/>
          <p:cNvSpPr/>
          <p:nvPr/>
        </p:nvSpPr>
        <p:spPr>
          <a:xfrm>
            <a:off x="1524000" y="457200"/>
            <a:ext cx="9144000" cy="6324600"/>
          </a:xfrm>
          <a:prstGeom prst="rect">
            <a:avLst/>
          </a:prstGeom>
        </p:spPr>
        <p:txBody>
          <a:bodyPr anchor="t" lIns="0" tIns="0" rIns="0" bIns="0">
            <a:noAutofit/>
          </a:bodyPr>
          <a:lstStyle/>
          <a:p>
            <a:pPr>
              <a:spcAft>
                <a:spcPts val="48000"/>
              </a:spcAft>
            </a:pPr>
            <a:r>
              <a:rPr lang="en-US" sz="100" dirty="0">
                <a:effectLst/>
              </a:rPr>
              <a:t> </a:t>
            </a:r>
          </a:p>
        </p:txBody>
      </p:sp>
      <p:pic>
        <p:nvPicPr>
          <p:cNvPr id="5" name="image-04b9e29862d660ca2fbd6c60360f35b5147d4f11.jpg"/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524000" y="457200"/>
            <a:ext cx="79629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"/>
              <p:cNvSpPr/>
              <p:nvPr/>
            </p:nvSpPr>
            <p:spPr>
              <a:xfrm>
                <a:off x="1524000" y="457200"/>
                <a:ext cx="9144000" cy="914400"/>
              </a:xfrm>
              <a:prstGeom prst="rect">
                <a:avLst/>
              </a:prstGeom>
            </p:spPr>
            <p:txBody>
              <a:bodyPr anchor="t" lIns="0" tIns="0" rIns="0" bIns="0"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1200" dirty="0">
                    <a:effectLst/>
                  </a:rPr>
                  <a:t>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k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=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0</m:t>
                    </m:r>
                  </m:oMath>
                </a14:m>
                <a:r>
                  <a:rPr lang="en-US" sz="1200" dirty="0">
                    <a:effectLst/>
                  </a:rPr>
                  <a:t> gives the asymptotes: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y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=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x</m:t>
                    </m:r>
                  </m:oMath>
                </a14:m>
                <a:r>
                  <a:rPr lang="en-US" sz="1200" dirty="0">
                    <a:effectLst/>
                  </a:rPr>
                  <a:t> and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y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=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−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x</m:t>
                    </m:r>
                  </m:oMath>
                </a14:m>
                <a:r>
                  <a:rPr lang="en-US" sz="1200" dirty="0">
                    <a:effectLst/>
                  </a:rPr>
                  <a:t>.</a:t>
                </a:r>
                <a:br>
                  <a:rPr lang="en-US" sz="1200" dirty="0"/>
                </a:br>
                <a:r>
                  <a:rPr lang="en-US" sz="1200" dirty="0">
                    <a:effectLst/>
                  </a:rPr>
                  <a:t> For all the other values of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k</m:t>
                    </m:r>
                  </m:oMath>
                </a14:m>
                <a:r>
                  <a:rPr lang="en-US" sz="1200" dirty="0">
                    <a:effectLst/>
                  </a:rPr>
                  <a:t> we get hyperbolas.</a:t>
                </a:r>
                <a:br>
                  <a:rPr lang="en-US" sz="1200" dirty="0"/>
                </a:br>
                <a:r>
                  <a:rPr lang="en-US" sz="1200" dirty="0">
                    <a:effectLst/>
                  </a:rPr>
                  <a:t> Note that the values of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k</m:t>
                    </m:r>
                  </m:oMath>
                </a14:m>
                <a:r>
                  <a:rPr lang="en-US" sz="1200" dirty="0">
                    <a:effectLst/>
                  </a:rPr>
                  <a:t> decrease as we approach the origin from the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x</m:t>
                    </m:r>
                  </m:oMath>
                </a14:m>
                <a:r>
                  <a:rPr lang="en-US" sz="1200" dirty="0">
                    <a:effectLst/>
                  </a:rPr>
                  <a:t>-axis and they increase as we approach the origin from the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y</m:t>
                    </m:r>
                  </m:oMath>
                </a14:m>
                <a:r>
                  <a:rPr lang="en-US" sz="1200" dirty="0">
                    <a:effectLst/>
                  </a:rPr>
                  <a:t>-axis.</a:t>
                </a:r>
              </a:p>
            </p:txBody>
          </p:sp>
        </mc:Choice>
        <mc:Fallback/>
      </mc:AlternateContent>
      <p:sp>
        <p:nvSpPr>
          <p:cNvPr id="2" name="Text"/>
          <p:cNvSpPr/>
          <p:nvPr/>
        </p:nvSpPr>
        <p:spPr>
          <a:xfrm>
            <a:off x="1524000" y="1524000"/>
            <a:ext cx="9144000" cy="342900"/>
          </a:xfrm>
          <a:prstGeom prst="rect">
            <a:avLst/>
          </a:prstGeom>
        </p:spPr>
        <p:txBody>
          <a:bodyPr anchor="t" lIns="0" tIns="0" rIns="0" bIns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800" dirty="0" b="1">
                <a:effectLst/>
              </a:rPr>
              <a:t>Functions of Several Variables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"/>
              <p:cNvSpPr/>
              <p:nvPr/>
            </p:nvSpPr>
            <p:spPr>
              <a:xfrm>
                <a:off x="1524000" y="2056639"/>
                <a:ext cx="9144000" cy="457200"/>
              </a:xfrm>
              <a:prstGeom prst="rect">
                <a:avLst/>
              </a:prstGeom>
            </p:spPr>
            <p:txBody>
              <a:bodyPr anchor="t" lIns="0" tIns="0" rIns="0" bIns="0"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1200" dirty="0">
                    <a:effectLst/>
                  </a:rPr>
                  <a:t>Use the contour plot to identify maximum, minimum and saddle points of of the function</a:t>
                </a:r>
                <a:br>
                  <a:rPr lang="en-US" sz="1200" dirty="0"/>
                </a:br>
                <a:r>
                  <a:rPr lang="en-US" sz="1200" dirty="0">
                    <a:effectLst/>
                  </a:rPr>
                  <a:t>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i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z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3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−</m:t>
                      </m:r>
                      <m:r>
                        <m:rPr>
                          <m:sty m:val="i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x</m:t>
                      </m:r>
                      <m:sSup>
                        <m:sSupPr>
                          <m:ctrlPr>
                            <a:rPr sz="12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sz="12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i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−</m:t>
                          </m:r>
                          <m:sSup>
                            <m:sSupPr>
                              <m:ctrlPr>
                                <a:rPr sz="1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i"/>
                                </m:rPr>
                                <a:rPr lang="en-US" sz="1200" dirty="0">
                                  <a:solidFill>
                                    <a:srgbClr val="000000"/>
                                  </a:solidFill>
                                  <a:effectLst/>
                                </a:rPr>
                                <m:t>x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200" dirty="0">
                                  <a:solidFill>
                                    <a:srgbClr val="000000"/>
                                  </a:solidFill>
                                  <a:effectLst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(</m:t>
                          </m:r>
                          <m:r>
                            <m:rPr>
                              <m:sty m:val="i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y</m:t>
                          </m:r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1</m:t>
                          </m:r>
                          <m:sSup>
                            <m:sSupPr>
                              <m:ctrlPr>
                                <a:rPr sz="1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200" dirty="0">
                                  <a:solidFill>
                                    <a:srgbClr val="000000"/>
                                  </a:solidFill>
                                  <a:effectLst/>
                                </a:rPr>
                                <m:t>)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200" dirty="0">
                                  <a:solidFill>
                                    <a:srgbClr val="000000"/>
                                  </a:solidFill>
                                  <a:effectLst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10</m:t>
                      </m:r>
                      <m:d>
                        <m:dPr>
                          <m:begChr m:val="("/>
                          <m:endChr m:val=")"/>
                          <m:ctrlPr>
                            <a:rPr sz="12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sz="120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i"/>
                                </m:rPr>
                                <a:rPr lang="en-US" sz="1200" dirty="0">
                                  <a:solidFill>
                                    <a:srgbClr val="000000"/>
                                  </a:solidFill>
                                  <a:effectLst/>
                                </a:rPr>
                                <m:t>x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1200" dirty="0">
                                  <a:solidFill>
                                    <a:srgbClr val="000000"/>
                                  </a:solidFill>
                                  <a:effectLst/>
                                </a:rPr>
                                <m:t>5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−</m:t>
                          </m:r>
                          <m:sSup>
                            <m:sSupPr>
                              <m:ctrlPr>
                                <a:rPr sz="1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i"/>
                                </m:rPr>
                                <a:rPr lang="en-US" sz="1200" dirty="0">
                                  <a:solidFill>
                                    <a:srgbClr val="000000"/>
                                  </a:solidFill>
                                  <a:effectLst/>
                                </a:rPr>
                                <m:t>x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200" dirty="0">
                                  <a:solidFill>
                                    <a:srgbClr val="000000"/>
                                  </a:solidFill>
                                  <a:effectLst/>
                                </a:rPr>
                                <m:t>3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−</m:t>
                          </m:r>
                          <m:sSup>
                            <m:sSupPr>
                              <m:ctrlPr>
                                <a:rPr sz="1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i"/>
                                </m:rPr>
                                <a:rPr lang="en-US" sz="1200" dirty="0">
                                  <a:solidFill>
                                    <a:srgbClr val="000000"/>
                                  </a:solidFill>
                                  <a:effectLst/>
                                </a:rPr>
                                <m:t>y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200" dirty="0">
                                  <a:solidFill>
                                    <a:srgbClr val="000000"/>
                                  </a:solidFill>
                                  <a:effectLst/>
                                </a:rPr>
                                <m:t>5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sz="12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i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−</m:t>
                          </m:r>
                          <m:sSup>
                            <m:sSupPr>
                              <m:ctrlPr>
                                <a:rPr sz="1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i"/>
                                </m:rPr>
                                <a:rPr lang="en-US" sz="1200" dirty="0">
                                  <a:solidFill>
                                    <a:srgbClr val="000000"/>
                                  </a:solidFill>
                                  <a:effectLst/>
                                </a:rPr>
                                <m:t>x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200" dirty="0">
                                  <a:solidFill>
                                    <a:srgbClr val="000000"/>
                                  </a:solidFill>
                                  <a:effectLst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−</m:t>
                          </m:r>
                          <m:sSup>
                            <m:sSupPr>
                              <m:ctrlPr>
                                <a:rPr sz="1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i"/>
                                </m:rPr>
                                <a:rPr lang="en-US" sz="1200" dirty="0">
                                  <a:solidFill>
                                    <a:srgbClr val="000000"/>
                                  </a:solidFill>
                                  <a:effectLst/>
                                </a:rPr>
                                <m:t>y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200" dirty="0">
                                  <a:solidFill>
                                    <a:srgbClr val="000000"/>
                                  </a:solidFill>
                                  <a:effectLst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−</m:t>
                      </m:r>
                      <m:f>
                        <m:fPr>
                          <m:ctrlPr>
                            <a:rPr sz="120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sz="12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i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(</m:t>
                          </m:r>
                          <m:r>
                            <m:rPr>
                              <m:sty m:val="i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1</m:t>
                          </m:r>
                          <m:sSup>
                            <m:sSupPr>
                              <m:ctrlPr>
                                <a:rPr sz="1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200" dirty="0">
                                  <a:solidFill>
                                    <a:srgbClr val="000000"/>
                                  </a:solidFill>
                                  <a:effectLst/>
                                </a:rPr>
                                <m:t>)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200" dirty="0">
                                  <a:solidFill>
                                    <a:srgbClr val="000000"/>
                                  </a:solidFill>
                                  <a:effectLst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−</m:t>
                          </m:r>
                          <m:sSup>
                            <m:sSupPr>
                              <m:ctrlPr>
                                <a:rPr sz="1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i"/>
                                </m:rPr>
                                <a:rPr lang="en-US" sz="1200" dirty="0">
                                  <a:solidFill>
                                    <a:srgbClr val="000000"/>
                                  </a:solidFill>
                                  <a:effectLst/>
                                </a:rPr>
                                <m:t>y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200" dirty="0">
                                  <a:solidFill>
                                    <a:srgbClr val="000000"/>
                                  </a:solidFill>
                                  <a:effectLst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10</m:t>
                      </m:r>
                    </m:oMath>
                  </m:oMathPara>
                </a14:m>
              </a:p>
            </p:txBody>
          </p:sp>
        </mc:Choice>
        <mc:Fallback/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"/>
          <p:cNvSpPr/>
          <p:nvPr/>
        </p:nvSpPr>
        <p:spPr>
          <a:xfrm>
            <a:off x="1524000" y="457200"/>
            <a:ext cx="9144000" cy="5943600"/>
          </a:xfrm>
          <a:prstGeom prst="rect">
            <a:avLst/>
          </a:prstGeom>
        </p:spPr>
        <p:txBody>
          <a:bodyPr anchor="t" lIns="0" tIns="0" rIns="0" bIns="0">
            <a:noAutofit/>
          </a:bodyPr>
          <a:lstStyle/>
          <a:p>
            <a:pPr>
              <a:spcAft>
                <a:spcPts val="48000"/>
              </a:spcAft>
            </a:pPr>
            <a:r>
              <a:rPr lang="en-US" sz="100" dirty="0">
                <a:effectLst/>
              </a:rPr>
              <a:t> </a:t>
            </a:r>
          </a:p>
        </p:txBody>
      </p:sp>
      <p:pic>
        <p:nvPicPr>
          <p:cNvPr id="5" name="image-b064f6d9338bb261cfda6b4e5dca844a70d0d720.jpg"/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524000" y="457200"/>
            <a:ext cx="7705725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/>
          <p:nvPr/>
        </p:nvSpPr>
        <p:spPr>
          <a:xfrm>
            <a:off x="1524000" y="457200"/>
            <a:ext cx="9144000" cy="228600"/>
          </a:xfrm>
          <a:prstGeom prst="rect">
            <a:avLst/>
          </a:prstGeom>
        </p:spPr>
        <p:txBody>
          <a:bodyPr anchor="t" lIns="0" tIns="0" rIns="0" bIns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effectLst/>
              </a:rPr>
              <a:t>Local maxima: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"/>
              <p:cNvSpPr/>
              <p:nvPr/>
            </p:nvSpPr>
            <p:spPr>
              <a:xfrm>
                <a:off x="1524000" y="838200"/>
                <a:ext cx="9144000" cy="200025"/>
              </a:xfrm>
              <a:prstGeom prst="rect">
                <a:avLst/>
              </a:prstGeom>
            </p:spPr>
            <p:txBody>
              <a:bodyPr anchor="ctr" lIns="0" tIns="0" rIns="0" bIns="0">
                <a:noAutofit/>
              </a:bodyPr>
              <a:lstStyle/>
              <a:p>
                <a:pPr algn="ctr"/>
                <a14:m>
                  <m:oMathPara>
                    <m:oMath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1.3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0.005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.46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.63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0.01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1.6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/>
      </mc:AlternateContent>
      <p:sp>
        <p:nvSpPr>
          <p:cNvPr id="2" name="Text"/>
          <p:cNvSpPr/>
          <p:nvPr/>
        </p:nvSpPr>
        <p:spPr>
          <a:xfrm>
            <a:off x="1524000" y="1190625"/>
            <a:ext cx="9144000" cy="228600"/>
          </a:xfrm>
          <a:prstGeom prst="rect">
            <a:avLst/>
          </a:prstGeom>
        </p:spPr>
        <p:txBody>
          <a:bodyPr anchor="t" lIns="0" tIns="0" rIns="0" bIns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effectLst/>
              </a:rPr>
              <a:t>Local minima: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"/>
          <p:cNvSpPr/>
          <p:nvPr/>
        </p:nvSpPr>
        <p:spPr>
          <a:xfrm>
            <a:off x="1524000" y="457200"/>
            <a:ext cx="9144000" cy="6324600"/>
          </a:xfrm>
          <a:prstGeom prst="rect">
            <a:avLst/>
          </a:prstGeom>
        </p:spPr>
        <p:txBody>
          <a:bodyPr anchor="t" lIns="0" tIns="0" rIns="0" bIns="0">
            <a:noAutofit/>
          </a:bodyPr>
          <a:lstStyle/>
          <a:p>
            <a:pPr>
              <a:spcAft>
                <a:spcPts val="48000"/>
              </a:spcAft>
            </a:pPr>
            <a:r>
              <a:rPr lang="en-US" sz="100" dirty="0">
                <a:effectLst/>
              </a:rPr>
              <a:t> </a:t>
            </a:r>
          </a:p>
        </p:txBody>
      </p:sp>
      <p:pic>
        <p:nvPicPr>
          <p:cNvPr id="5" name="image-2e8f7818a3cde004a05031a80293f534173b720e.jpg"/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524000" y="457200"/>
            <a:ext cx="5943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"/>
          <p:cNvSpPr/>
          <p:nvPr/>
        </p:nvSpPr>
        <p:spPr>
          <a:xfrm>
            <a:off x="1524000" y="457200"/>
            <a:ext cx="9144000" cy="228600"/>
          </a:xfrm>
          <a:prstGeom prst="rect">
            <a:avLst/>
          </a:prstGeom>
        </p:spPr>
        <p:txBody>
          <a:bodyPr anchor="t" lIns="0" tIns="0" rIns="0" bIns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effectLst/>
              </a:rPr>
              <a:t> (.23,-1.6), (-1.3,.20), (.3,.3)</a:t>
            </a:r>
          </a:p>
        </p:txBody>
      </p:sp>
      <p:sp>
        <p:nvSpPr>
          <p:cNvPr id="2" name="Text"/>
          <p:cNvSpPr/>
          <p:nvPr/>
        </p:nvSpPr>
        <p:spPr>
          <a:xfrm>
            <a:off x="1524000" y="838200"/>
            <a:ext cx="9144000" cy="457200"/>
          </a:xfrm>
          <a:prstGeom prst="rect">
            <a:avLst/>
          </a:prstGeom>
        </p:spPr>
        <p:txBody>
          <a:bodyPr anchor="t" lIns="0" tIns="0" rIns="0" bIns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effectLst/>
              </a:rPr>
              <a:t>Saddle points:</a:t>
            </a:r>
            <a:br>
              <a:rPr lang="en-US" sz="1200" dirty="0"/>
            </a:br>
            <a:r>
              <a:rPr lang="en-US" sz="1200" dirty="0">
                <a:effectLst/>
              </a:rPr>
              <a:t> (-.27,.47), (.42,-.39), (1.1,.85)</a:t>
            </a:r>
          </a:p>
        </p:txBody>
      </p:sp>
      <p:sp>
        <p:nvSpPr>
          <p:cNvPr id="2" name="Text"/>
          <p:cNvSpPr/>
          <p:nvPr/>
        </p:nvSpPr>
        <p:spPr>
          <a:xfrm>
            <a:off x="1524000" y="1447800"/>
            <a:ext cx="9144000" cy="342900"/>
          </a:xfrm>
          <a:prstGeom prst="rect">
            <a:avLst/>
          </a:prstGeom>
        </p:spPr>
        <p:txBody>
          <a:bodyPr anchor="t" lIns="0" tIns="0" rIns="0" bIns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800" dirty="0" b="1">
                <a:effectLst/>
              </a:rPr>
              <a:t>Functions of Several Variables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"/>
              <p:cNvSpPr/>
              <p:nvPr/>
            </p:nvSpPr>
            <p:spPr>
              <a:xfrm>
                <a:off x="1524000" y="1980439"/>
                <a:ext cx="9144000" cy="457200"/>
              </a:xfrm>
              <a:prstGeom prst="rect">
                <a:avLst/>
              </a:prstGeom>
            </p:spPr>
            <p:txBody>
              <a:bodyPr anchor="t" lIns="0" tIns="0" rIns="0" bIns="0"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1200" dirty="0">
                    <a:effectLst/>
                  </a:rPr>
                  <a:t>Unless otherwise specified, the Domain of the function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f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(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x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,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y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)</m:t>
                    </m:r>
                  </m:oMath>
                </a14:m>
                <a:r>
                  <a:rPr lang="en-US" sz="1200" dirty="0">
                    <a:effectLst/>
                  </a:rPr>
                  <a:t> is the set of all points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(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x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,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y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)</m:t>
                    </m:r>
                  </m:oMath>
                </a14:m>
                <a:r>
                  <a:rPr lang="en-US" sz="1200" dirty="0">
                    <a:effectLst/>
                  </a:rPr>
                  <a:t> for which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f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(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x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,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y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)</m:t>
                    </m:r>
                  </m:oMath>
                </a14:m>
                <a:r>
                  <a:rPr lang="en-US" sz="1200" dirty="0">
                    <a:effectLst/>
                  </a:rPr>
                  <a:t> is a well defined real number.</a:t>
                </a:r>
              </a:p>
            </p:txBody>
          </p:sp>
        </mc:Choice>
        <mc:Fallback/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"/>
              <p:cNvSpPr/>
              <p:nvPr/>
            </p:nvSpPr>
            <p:spPr>
              <a:xfrm>
                <a:off x="1524000" y="2590039"/>
                <a:ext cx="9144000" cy="728365"/>
              </a:xfrm>
              <a:prstGeom prst="rect">
                <a:avLst/>
              </a:prstGeom>
            </p:spPr>
            <p:txBody>
              <a:bodyPr anchor="t" lIns="0" tIns="0" rIns="0" bIns="0"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1200" dirty="0">
                    <a:effectLst/>
                  </a:rPr>
                  <a:t>The Range of the function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f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(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x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,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y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)</m:t>
                    </m:r>
                  </m:oMath>
                </a14:m>
                <a:r>
                  <a:rPr lang="en-US" sz="1200" dirty="0">
                    <a:effectLst/>
                  </a:rPr>
                  <a:t> is the set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{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z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∣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z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=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f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(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x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,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y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)</m:t>
                    </m:r>
                  </m:oMath>
                </a14:m>
                <a:r>
                  <a:rPr lang="en-US" sz="1200" dirty="0">
                    <a:effectLst/>
                  </a:rPr>
                  <a:t> with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(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x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,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y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)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∈</m:t>
                    </m:r>
                  </m:oMath>
                </a14:m>
                <a:r>
                  <a:rPr lang="en-US" sz="1200" dirty="0">
                    <a:effectLst/>
                  </a:rPr>
                  <a:t> Domain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}</m:t>
                    </m:r>
                  </m:oMath>
                </a14:m>
                <a:br>
                  <a:rPr lang="en-US" sz="1200" dirty="0"/>
                </a:br>
                <a:r>
                  <a:rPr lang="en-US" sz="1200" dirty="0">
                    <a:effectLst/>
                  </a:rPr>
                  <a:t> Example: Find the domain: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f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(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x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,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y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)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=</m:t>
                    </m:r>
                    <m:f>
                      <m:fPr>
                        <m:ctrlPr>
                          <a:rPr sz="120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1"/>
                            <m:ctrlPr>
                              <a:rPr sz="1200">
                                <a:latin typeface="Cambria Math" panose="02040503050406030204" pitchFamily="18" charset="0"/>
                              </a:rPr>
                            </m:ctrlPr>
                          </m:radPr>
                          <m:deg>
                            <m:r>
                              <m:t xml:space="preserve"> </m:t>
                            </m:r>
                          </m:deg>
                          <m:e>
                            <m:r>
                              <m:rPr>
                                <m:sty m:val="i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−</m:t>
                            </m:r>
                            <m:r>
                              <m:rPr>
                                <m:sty m:val="i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y</m:t>
                            </m:r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m:rPr>
                            <m:sty m:val="i"/>
                          </m:rPr>
                          <a:rPr lang="en-US" sz="1200" dirty="0">
                            <a:solidFill>
                              <a:srgbClr val="000000"/>
                            </a:solidFill>
                            <a:effectLst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200" dirty="0">
                            <a:solidFill>
                              <a:srgbClr val="000000"/>
                            </a:solidFill>
                            <a:effectLst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1200" dirty="0">
                            <a:solidFill>
                              <a:srgbClr val="000000"/>
                            </a:solidFill>
                            <a:effectLst/>
                          </a:rPr>
                          <m:t>2</m:t>
                        </m:r>
                      </m:den>
                    </m:f>
                  </m:oMath>
                </a14:m>
                <a:br>
                  <a:rPr lang="en-US" sz="1200" dirty="0"/>
                </a:br>
                <a:r>
                  <a:rPr lang="en-US" sz="1200" dirty="0">
                    <a:effectLst/>
                  </a:rPr>
                  <a:t> The function is defined when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x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−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y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+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3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≥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0</m:t>
                    </m:r>
                  </m:oMath>
                </a14:m>
                <a:r>
                  <a:rPr lang="en-US" sz="1200" dirty="0">
                    <a:effectLst/>
                  </a:rPr>
                  <a:t> and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x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+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2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≠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0</m:t>
                    </m:r>
                  </m:oMath>
                </a14:m>
              </a:p>
            </p:txBody>
          </p:sp>
        </mc:Choice>
        <mc:Fallback/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"/>
          <p:cNvSpPr/>
          <p:nvPr/>
        </p:nvSpPr>
        <p:spPr>
          <a:xfrm>
            <a:off x="1524000" y="457200"/>
            <a:ext cx="9144000" cy="5939135"/>
          </a:xfrm>
          <a:prstGeom prst="rect">
            <a:avLst/>
          </a:prstGeom>
        </p:spPr>
        <p:txBody>
          <a:bodyPr anchor="t" lIns="0" tIns="0" rIns="0" bIns="0">
            <a:noAutofit/>
          </a:bodyPr>
          <a:lstStyle/>
          <a:p>
            <a:pPr>
              <a:spcAft>
                <a:spcPts val="48000"/>
              </a:spcAft>
            </a:pPr>
            <a:r>
              <a:rPr lang="en-US" sz="100" dirty="0">
                <a:effectLst/>
              </a:rPr>
              <a:t> </a:t>
            </a:r>
          </a:p>
        </p:txBody>
      </p:sp>
      <p:pic>
        <p:nvPicPr>
          <p:cNvPr id="5" name="image-22c4e829801e24fa1b040cef89a8d1782216d743.jpg"/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524000" y="457200"/>
            <a:ext cx="6429375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/>
          <p:nvPr/>
        </p:nvSpPr>
        <p:spPr>
          <a:xfrm>
            <a:off x="1524000" y="457200"/>
            <a:ext cx="9144000" cy="342900"/>
          </a:xfrm>
          <a:prstGeom prst="rect">
            <a:avLst/>
          </a:prstGeom>
        </p:spPr>
        <p:txBody>
          <a:bodyPr anchor="t" lIns="0" tIns="0" rIns="0" bIns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800" dirty="0" b="1">
                <a:effectLst/>
              </a:rPr>
              <a:t>Functions of Several Variables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"/>
              <p:cNvSpPr/>
              <p:nvPr/>
            </p:nvSpPr>
            <p:spPr>
              <a:xfrm>
                <a:off x="1524000" y="989839"/>
                <a:ext cx="9144000" cy="228600"/>
              </a:xfrm>
              <a:prstGeom prst="rect">
                <a:avLst/>
              </a:prstGeom>
            </p:spPr>
            <p:txBody>
              <a:bodyPr anchor="t" lIns="0" tIns="0" rIns="0" bIns="0"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1200" dirty="0">
                    <a:effectLst/>
                  </a:rPr>
                  <a:t>Example: Find domain and range: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f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(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x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,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y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)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=</m:t>
                    </m:r>
                    <m:rad>
                      <m:radPr>
                        <m:degHide m:val="1"/>
                        <m:ctrlPr>
                          <a:rPr sz="120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t xml:space="preserve"> </m:t>
                        </m:r>
                      </m:deg>
                      <m:e>
                        <m:r>
                          <m:rPr>
                            <m:sty m:val="p"/>
                          </m:rPr>
                          <a:rPr lang="en-US" sz="1200" dirty="0">
                            <a:solidFill>
                              <a:srgbClr val="000000"/>
                            </a:solidFill>
                            <a:effectLst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US" sz="1200" dirty="0">
                            <a:solidFill>
                              <a:srgbClr val="000000"/>
                            </a:solidFill>
                            <a:effectLst/>
                          </a:rPr>
                          <m:t>−</m:t>
                        </m:r>
                        <m:sSup>
                          <m:sSupPr>
                            <m:ctrlPr>
                              <a:rPr sz="120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i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US" sz="1200" dirty="0">
                            <a:solidFill>
                              <a:srgbClr val="000000"/>
                            </a:solidFill>
                            <a:effectLst/>
                          </a:rPr>
                          <m:t>−</m:t>
                        </m:r>
                        <m:sSup>
                          <m:sSupPr>
                            <m:ctrlPr>
                              <a:rPr sz="120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i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y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</a:p>
            </p:txBody>
          </p:sp>
        </mc:Choice>
        <mc:Fallback/>
      </mc:AlternateContent>
      <p:sp>
        <p:nvSpPr>
          <p:cNvPr id="2" name="Text"/>
          <p:cNvSpPr/>
          <p:nvPr/>
        </p:nvSpPr>
        <p:spPr>
          <a:xfrm>
            <a:off x="1524000" y="1370839"/>
            <a:ext cx="9144000" cy="342900"/>
          </a:xfrm>
          <a:prstGeom prst="rect">
            <a:avLst/>
          </a:prstGeom>
        </p:spPr>
        <p:txBody>
          <a:bodyPr anchor="t" lIns="0" tIns="0" rIns="0" bIns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800" dirty="0" b="1">
                <a:effectLst/>
              </a:rPr>
              <a:t>Domain: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"/>
              <p:cNvSpPr/>
              <p:nvPr/>
            </p:nvSpPr>
            <p:spPr>
              <a:xfrm>
                <a:off x="1524000" y="1903478"/>
                <a:ext cx="9144000" cy="228600"/>
              </a:xfrm>
              <a:prstGeom prst="rect">
                <a:avLst/>
              </a:prstGeom>
            </p:spPr>
            <p:txBody>
              <a:bodyPr anchor="t" lIns="0" tIns="0" rIns="0" bIns="0"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1200" dirty="0">
                    <a:effectLst/>
                  </a:rPr>
                  <a:t>​</a:t>
                </a:r>
                <a14:m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4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−</m:t>
                      </m:r>
                      <m:sSup>
                        <m:sSupPr>
                          <m:ctrlPr>
                            <a:rPr sz="12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i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−</m:t>
                      </m:r>
                      <m:sSup>
                        <m:sSupPr>
                          <m:ctrlPr>
                            <a:rPr sz="12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i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y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≥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0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⇒</m:t>
                      </m:r>
                      <m:sSup>
                        <m:sSupPr>
                          <m:ctrlPr>
                            <a:rPr sz="12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i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+</m:t>
                      </m:r>
                      <m:sSup>
                        <m:sSupPr>
                          <m:ctrlPr>
                            <a:rPr sz="12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i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y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4</m:t>
                      </m:r>
                    </m:oMath>
                  </m:oMathPara>
                </a14:m>
              </a:p>
            </p:txBody>
          </p:sp>
        </mc:Choice>
        <mc:Fallback/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"/>
          <p:cNvSpPr/>
          <p:nvPr/>
        </p:nvSpPr>
        <p:spPr>
          <a:xfrm>
            <a:off x="1524000" y="457200"/>
            <a:ext cx="9144000" cy="5943600"/>
          </a:xfrm>
          <a:prstGeom prst="rect">
            <a:avLst/>
          </a:prstGeom>
        </p:spPr>
        <p:txBody>
          <a:bodyPr anchor="t" lIns="0" tIns="0" rIns="0" bIns="0">
            <a:noAutofit/>
          </a:bodyPr>
          <a:lstStyle/>
          <a:p>
            <a:pPr>
              <a:spcAft>
                <a:spcPts val="48000"/>
              </a:spcAft>
            </a:pPr>
            <a:r>
              <a:rPr lang="en-US" sz="100" dirty="0">
                <a:effectLst/>
              </a:rPr>
              <a:t> </a:t>
            </a:r>
          </a:p>
        </p:txBody>
      </p:sp>
      <p:pic>
        <p:nvPicPr>
          <p:cNvPr id="5" name="image-094efb011de159be2a17b18d580e2499e22a6245.jpg"/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524000" y="457200"/>
            <a:ext cx="6848475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/>
          <p:nvPr/>
        </p:nvSpPr>
        <p:spPr>
          <a:xfrm>
            <a:off x="1524000" y="457200"/>
            <a:ext cx="9144000" cy="228600"/>
          </a:xfrm>
          <a:prstGeom prst="rect">
            <a:avLst/>
          </a:prstGeom>
        </p:spPr>
        <p:txBody>
          <a:bodyPr anchor="t" lIns="0" tIns="0" rIns="0" bIns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effectLst/>
              </a:rPr>
              <a:t>The surface is the top half of the sphere of radius 2 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"/>
              <p:cNvSpPr/>
              <p:nvPr/>
            </p:nvSpPr>
            <p:spPr>
              <a:xfrm>
                <a:off x="1524000" y="838200"/>
                <a:ext cx="9144000" cy="219075"/>
              </a:xfrm>
              <a:prstGeom prst="rect">
                <a:avLst/>
              </a:prstGeom>
            </p:spPr>
            <p:txBody>
              <a:bodyPr anchor="ctr" lIns="0" tIns="0" rIns="0" bIns="0">
                <a:noAutofit/>
              </a:bodyPr>
              <a:lstStyle/>
              <a:p>
                <a:pPr algn="ctr"/>
                <a14:m>
                  <m:oMathPara>
                    <m:oMath>
                      <m:sSup>
                        <m:sSupPr>
                          <m:ctrlPr>
                            <a:rPr sz="12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i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+</m:t>
                      </m:r>
                      <m:sSup>
                        <m:sSupPr>
                          <m:ctrlPr>
                            <a:rPr sz="12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i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y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+</m:t>
                      </m:r>
                      <m:sSup>
                        <m:sSupPr>
                          <m:ctrlPr>
                            <a:rPr sz="12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i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z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4</m:t>
                      </m:r>
                    </m:oMath>
                  </m:oMathPara>
                </a14:m>
              </a:p>
            </p:txBody>
          </p:sp>
        </mc:Choice>
        <mc:Fallback/>
      </mc:AlternateContent>
      <p:sp>
        <p:nvSpPr>
          <p:cNvPr id="2" name="Text"/>
          <p:cNvSpPr/>
          <p:nvPr/>
        </p:nvSpPr>
        <p:spPr>
          <a:xfrm>
            <a:off x="1524000" y="1209675"/>
            <a:ext cx="9144000" cy="342900"/>
          </a:xfrm>
          <a:prstGeom prst="rect">
            <a:avLst/>
          </a:prstGeom>
        </p:spPr>
        <p:txBody>
          <a:bodyPr anchor="t" lIns="0" tIns="0" rIns="0" bIns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800" dirty="0" b="1">
                <a:effectLst/>
              </a:rPr>
              <a:t>Range: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"/>
              <p:cNvSpPr/>
              <p:nvPr/>
            </p:nvSpPr>
            <p:spPr>
              <a:xfrm>
                <a:off x="1524000" y="1742314"/>
                <a:ext cx="9144000" cy="457200"/>
              </a:xfrm>
              <a:prstGeom prst="rect">
                <a:avLst/>
              </a:prstGeom>
            </p:spPr>
            <p:txBody>
              <a:bodyPr anchor="t" lIns="0" tIns="0" rIns="0" bIns="0"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1200" dirty="0">
                    <a:effectLst/>
                  </a:rPr>
                  <a:t>The largest value of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z</m:t>
                    </m:r>
                  </m:oMath>
                </a14:m>
                <a:r>
                  <a:rPr lang="en-US" sz="1200" dirty="0">
                    <a:effectLst/>
                  </a:rPr>
                  <a:t> is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ad>
                      <m:radPr>
                        <m:degHide m:val="1"/>
                        <m:ctrlPr>
                          <a:rPr sz="120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t xml:space="preserve"> </m:t>
                        </m:r>
                      </m:deg>
                      <m:e>
                        <m:r>
                          <m:rPr>
                            <m:sty m:val="p"/>
                          </m:rPr>
                          <a:rPr lang="en-US" sz="1200" dirty="0">
                            <a:solidFill>
                              <a:srgbClr val="000000"/>
                            </a:solidFill>
                            <a:effectLst/>
                          </a:rPr>
                          <m:t>4</m:t>
                        </m:r>
                      </m:e>
                    </m:rad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=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2</m:t>
                    </m:r>
                  </m:oMath>
                </a14:m>
                <a:r>
                  <a:rPr lang="en-US" sz="1200" dirty="0">
                    <a:effectLst/>
                  </a:rPr>
                  <a:t>, obtained when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x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=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0</m:t>
                    </m:r>
                  </m:oMath>
                </a14:m>
                <a:r>
                  <a:rPr lang="en-US" sz="1200" dirty="0">
                    <a:effectLst/>
                  </a:rPr>
                  <a:t> and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y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=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0</m:t>
                    </m:r>
                  </m:oMath>
                </a14:m>
                <a:r>
                  <a:rPr lang="en-US" sz="1200" dirty="0">
                    <a:effectLst/>
                  </a:rPr>
                  <a:t>.</a:t>
                </a:r>
                <a:br>
                  <a:rPr lang="en-US" sz="1200" dirty="0"/>
                </a:br>
                <a:r>
                  <a:rPr lang="en-US" sz="1200" dirty="0">
                    <a:effectLst/>
                  </a:rPr>
                  <a:t> On the other hand, the square root is always non negative, thus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z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≥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0</m:t>
                    </m:r>
                  </m:oMath>
                </a14:m>
                <a:r>
                  <a:rPr lang="en-US" sz="1200" dirty="0">
                    <a:effectLst/>
                  </a:rPr>
                  <a:t> and the range is the interval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[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0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,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2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]</m:t>
                    </m:r>
                  </m:oMath>
                </a14:m>
              </a:p>
            </p:txBody>
          </p:sp>
        </mc:Choice>
        <mc:Fallback/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"/>
          <p:cNvSpPr/>
          <p:nvPr/>
        </p:nvSpPr>
        <p:spPr>
          <a:xfrm>
            <a:off x="1524000" y="457200"/>
            <a:ext cx="9144000" cy="5829300"/>
          </a:xfrm>
          <a:prstGeom prst="rect">
            <a:avLst/>
          </a:prstGeom>
        </p:spPr>
        <p:txBody>
          <a:bodyPr anchor="t" lIns="0" tIns="0" rIns="0" bIns="0">
            <a:noAutofit/>
          </a:bodyPr>
          <a:lstStyle/>
          <a:p>
            <a:pPr>
              <a:spcAft>
                <a:spcPts val="47100"/>
              </a:spcAft>
            </a:pPr>
            <a:r>
              <a:rPr lang="en-US" sz="100" dirty="0">
                <a:effectLst/>
              </a:rPr>
              <a:t> </a:t>
            </a:r>
          </a:p>
        </p:txBody>
      </p:sp>
      <p:pic>
        <p:nvPicPr>
          <p:cNvPr id="5" name="image-c5d3415922a1452219e731b388e668331414d57b.jpg"/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524000" y="457200"/>
            <a:ext cx="8610600" cy="58293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/>
          <p:nvPr/>
        </p:nvSpPr>
        <p:spPr>
          <a:xfrm>
            <a:off x="1524000" y="457200"/>
            <a:ext cx="9144000" cy="342900"/>
          </a:xfrm>
          <a:prstGeom prst="rect">
            <a:avLst/>
          </a:prstGeom>
        </p:spPr>
        <p:txBody>
          <a:bodyPr anchor="t" lIns="0" tIns="0" rIns="0" bIns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800" dirty="0" b="1">
                <a:effectLst/>
              </a:rPr>
              <a:t>Function of Several Variables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"/>
              <p:cNvSpPr/>
              <p:nvPr/>
            </p:nvSpPr>
            <p:spPr>
              <a:xfrm>
                <a:off x="1524000" y="989839"/>
                <a:ext cx="9144000" cy="228600"/>
              </a:xfrm>
              <a:prstGeom prst="rect">
                <a:avLst/>
              </a:prstGeom>
            </p:spPr>
            <p:txBody>
              <a:bodyPr anchor="t" lIns="0" tIns="0" rIns="0" bIns="0"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1200" dirty="0">
                    <a:effectLst/>
                  </a:rPr>
                  <a:t>A function of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n</m:t>
                    </m:r>
                  </m:oMath>
                </a14:m>
                <a:r>
                  <a:rPr lang="en-US" sz="1200" dirty="0">
                    <a:effectLst/>
                  </a:rPr>
                  <a:t> variables assigns a number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z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=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f</m:t>
                    </m:r>
                    <m:d>
                      <m:dPr>
                        <m:begChr m:val="("/>
                        <m:endChr m:val=")"/>
                        <m:ctrlPr>
                          <a:rPr sz="12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sz="12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i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1200" dirty="0">
                            <a:solidFill>
                              <a:srgbClr val="000000"/>
                            </a:solidFill>
                            <a:effectLst/>
                          </a:rPr>
                          <m:t>,</m:t>
                        </m:r>
                        <m:sSub>
                          <m:sSubPr>
                            <m:ctrlPr>
                              <a:rPr sz="12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i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1200" dirty="0">
                            <a:solidFill>
                              <a:srgbClr val="000000"/>
                            </a:solidFill>
                            <a:effectLst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1200" dirty="0">
                            <a:solidFill>
                              <a:srgbClr val="000000"/>
                            </a:solidFill>
                            <a:effectLst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US" sz="1200" dirty="0">
                            <a:solidFill>
                              <a:srgbClr val="000000"/>
                            </a:solidFill>
                            <a:effectLst/>
                          </a:rPr>
                          <m:t>,</m:t>
                        </m:r>
                        <m:sSub>
                          <m:sSubPr>
                            <m:ctrlPr>
                              <a:rPr sz="12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i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i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n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200" dirty="0">
                    <a:effectLst/>
                  </a:rPr>
                  <a:t> to an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n</m:t>
                    </m:r>
                  </m:oMath>
                </a14:m>
                <a:r>
                  <a:rPr lang="en-US" sz="1200" dirty="0">
                    <a:effectLst/>
                  </a:rPr>
                  <a:t>-tuple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d>
                      <m:dPr>
                        <m:begChr m:val="("/>
                        <m:endChr m:val=")"/>
                        <m:ctrlPr>
                          <a:rPr sz="12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sz="12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i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1200" dirty="0">
                            <a:solidFill>
                              <a:srgbClr val="000000"/>
                            </a:solidFill>
                            <a:effectLst/>
                          </a:rPr>
                          <m:t>,</m:t>
                        </m:r>
                        <m:sSub>
                          <m:sSubPr>
                            <m:ctrlPr>
                              <a:rPr sz="12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i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1200" dirty="0">
                            <a:solidFill>
                              <a:srgbClr val="000000"/>
                            </a:solidFill>
                            <a:effectLst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1200" dirty="0">
                            <a:solidFill>
                              <a:srgbClr val="000000"/>
                            </a:solidFill>
                            <a:effectLst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US" sz="1200" dirty="0">
                            <a:solidFill>
                              <a:srgbClr val="000000"/>
                            </a:solidFill>
                            <a:effectLst/>
                          </a:rPr>
                          <m:t>,</m:t>
                        </m:r>
                        <m:sSub>
                          <m:sSubPr>
                            <m:ctrlPr>
                              <a:rPr sz="12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i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i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n</m:t>
                            </m:r>
                          </m:sub>
                        </m:sSub>
                      </m:e>
                    </m:d>
                  </m:oMath>
                </a14:m>
              </a:p>
            </p:txBody>
          </p:sp>
        </mc:Choice>
        <mc:Fallback/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"/>
              <p:cNvSpPr/>
              <p:nvPr/>
            </p:nvSpPr>
            <p:spPr>
              <a:xfrm>
                <a:off x="1524000" y="1370839"/>
                <a:ext cx="9144000" cy="457200"/>
              </a:xfrm>
              <a:prstGeom prst="rect">
                <a:avLst/>
              </a:prstGeom>
            </p:spPr>
            <p:txBody>
              <a:bodyPr anchor="t" lIns="0" tIns="0" rIns="0" bIns="0"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1200" dirty="0">
                    <a:effectLst/>
                  </a:rPr>
                  <a:t>Example: Consider the function of three variable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f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(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x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,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y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,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z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)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=</m:t>
                    </m:r>
                    <m:sSup>
                      <m:sSupPr>
                        <m:ctrlPr>
                          <a:rPr sz="12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i"/>
                          </m:rPr>
                          <a:rPr lang="en-US" sz="1200" dirty="0">
                            <a:solidFill>
                              <a:srgbClr val="000000"/>
                            </a:solidFill>
                            <a:effectLst/>
                          </a:rPr>
                          <m:t>x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200" dirty="0">
                            <a:solidFill>
                              <a:srgbClr val="000000"/>
                            </a:solidFill>
                            <a:effectLst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ln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⁡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(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x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−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y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+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z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)</m:t>
                    </m:r>
                  </m:oMath>
                </a14:m>
                <a:br>
                  <a:rPr lang="en-US" sz="1200" dirty="0"/>
                </a:br>
                <a:r>
                  <a:rPr lang="en-US" sz="1200" dirty="0">
                    <a:effectLst/>
                  </a:rPr>
                  <a:t> a) Evaluate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f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(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3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,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6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,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4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)</m:t>
                    </m:r>
                  </m:oMath>
                </a14:m>
              </a:p>
            </p:txBody>
          </p:sp>
        </mc:Choice>
        <mc:Fallback/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"/>
              <p:cNvSpPr/>
              <p:nvPr/>
            </p:nvSpPr>
            <p:spPr>
              <a:xfrm>
                <a:off x="1524000" y="1980439"/>
                <a:ext cx="9144000" cy="885825"/>
              </a:xfrm>
              <a:prstGeom prst="rect">
                <a:avLst/>
              </a:prstGeom>
            </p:spPr>
            <p:txBody>
              <a:bodyPr anchor="t" lIns="0" tIns="0" rIns="0" bIns="0">
                <a:noAutofit/>
              </a:bodyPr>
              <a:lstStyle/>
              <a:p>
                <a:pPr algn="ctr"/>
                <a14:m>
                  <m:oMathPara>
                    <m:oMath>
                      <m:r>
                        <m:rPr>
                          <m:sty m:val="i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f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3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6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4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=</m:t>
                      </m:r>
                      <m:sSup>
                        <m:sSupPr>
                          <m:ctrlPr>
                            <a:rPr sz="12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3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ln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⁡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3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6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4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9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ln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⁡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0</m:t>
                      </m:r>
                    </m:oMath>
                  </m:oMathPara>
                </a14:m>
              </a:p>
              <a:p>
                <a:pPr>
                  <a:lnSpc>
                    <a:spcPct val="120000"/>
                  </a:lnSpc>
                </a:pPr>
                <a:r>
                  <a:rPr lang="en-US" sz="1200" dirty="0">
                    <a:effectLst/>
                  </a:rPr>
                  <a:t> b) Find the domain of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f</m:t>
                    </m:r>
                  </m:oMath>
                </a14:m>
              </a:p>
              <a:p>
                <a:pPr algn="ctr"/>
                <a14:m>
                  <m:oMathPara>
                    <m:oMath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D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{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(</m:t>
                      </m:r>
                      <m:r>
                        <m:rPr>
                          <m:sty m:val="i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x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,</m:t>
                      </m:r>
                      <m:r>
                        <m:rPr>
                          <m:sty m:val="i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y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,</m:t>
                      </m:r>
                      <m:r>
                        <m:rPr>
                          <m:sty m:val="i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z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∣</m:t>
                      </m:r>
                      <m:r>
                        <m:rPr>
                          <m:sty m:val="i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x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−</m:t>
                      </m:r>
                      <m:r>
                        <m:rPr>
                          <m:sty m:val="i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y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+</m:t>
                      </m:r>
                      <m:r>
                        <m:rPr>
                          <m:sty m:val="i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z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&gt;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0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}</m:t>
                      </m:r>
                    </m:oMath>
                  </m:oMathPara>
                </a14:m>
              </a:p>
            </p:txBody>
          </p:sp>
        </mc:Choice>
        <mc:Fallback/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"/>
              <p:cNvSpPr/>
              <p:nvPr/>
            </p:nvSpPr>
            <p:spPr>
              <a:xfrm>
                <a:off x="1524000" y="3018664"/>
                <a:ext cx="9144000" cy="457200"/>
              </a:xfrm>
              <a:prstGeom prst="rect">
                <a:avLst/>
              </a:prstGeom>
            </p:spPr>
            <p:txBody>
              <a:bodyPr anchor="t" lIns="0" tIns="0" rIns="0" bIns="0"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1200" dirty="0">
                    <a:effectLst/>
                  </a:rPr>
                  <a:t>The plane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x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−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y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+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z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=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0</m:t>
                    </m:r>
                  </m:oMath>
                </a14:m>
                <a:r>
                  <a:rPr lang="en-US" sz="1200" dirty="0">
                    <a:effectLst/>
                  </a:rPr>
                  <a:t> divides the space in two parts. The part of space above the plane constitutes the domain of the function.</a:t>
                </a:r>
                <a:br>
                  <a:rPr lang="en-US" sz="1200" dirty="0"/>
                </a:br>
                <a:r>
                  <a:rPr lang="en-US" sz="1200" dirty="0">
                    <a:effectLst/>
                  </a:rPr>
                  <a:t> c) Find the range of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f</m:t>
                    </m:r>
                  </m:oMath>
                </a14:m>
              </a:p>
            </p:txBody>
          </p:sp>
        </mc:Choice>
        <mc:Fallback/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"/>
          <p:cNvSpPr/>
          <p:nvPr/>
        </p:nvSpPr>
        <p:spPr>
          <a:xfrm>
            <a:off x="1524000" y="457200"/>
            <a:ext cx="9144000" cy="5943600"/>
          </a:xfrm>
          <a:prstGeom prst="rect">
            <a:avLst/>
          </a:prstGeom>
        </p:spPr>
        <p:txBody>
          <a:bodyPr anchor="t" lIns="0" tIns="0" rIns="0" bIns="0">
            <a:noAutofit/>
          </a:bodyPr>
          <a:lstStyle/>
          <a:p>
            <a:pPr>
              <a:spcAft>
                <a:spcPts val="48000"/>
              </a:spcAft>
            </a:pPr>
            <a:r>
              <a:rPr lang="en-US" sz="100" dirty="0">
                <a:effectLst/>
              </a:rPr>
              <a:t> </a:t>
            </a:r>
          </a:p>
        </p:txBody>
      </p:sp>
      <p:pic>
        <p:nvPicPr>
          <p:cNvPr id="5" name="image-307a0a4d60bbc4539cedc18737469c7811cea261.jpg"/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524000" y="457200"/>
            <a:ext cx="7153275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"/>
              <p:cNvSpPr/>
              <p:nvPr/>
            </p:nvSpPr>
            <p:spPr>
              <a:xfrm>
                <a:off x="1524000" y="457200"/>
                <a:ext cx="9144000" cy="228600"/>
              </a:xfrm>
              <a:prstGeom prst="rect">
                <a:avLst/>
              </a:prstGeom>
            </p:spPr>
            <p:txBody>
              <a:bodyPr anchor="t" lIns="0" tIns="0" rIns="0" bIns="0"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1200" dirty="0">
                    <a:effectLst/>
                  </a:rPr>
                  <a:t>Since the natural logarithmic function takes on all possible real values, the domain of the function is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(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−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∞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,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∞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)</m:t>
                    </m:r>
                  </m:oMath>
                </a14:m>
              </a:p>
            </p:txBody>
          </p:sp>
        </mc:Choice>
        <mc:Fallback/>
      </mc:AlternateContent>
      <p:sp>
        <p:nvSpPr>
          <p:cNvPr id="2" name="Text"/>
          <p:cNvSpPr/>
          <p:nvPr/>
        </p:nvSpPr>
        <p:spPr>
          <a:xfrm>
            <a:off x="1524000" y="838200"/>
            <a:ext cx="9144000" cy="342900"/>
          </a:xfrm>
          <a:prstGeom prst="rect">
            <a:avLst/>
          </a:prstGeom>
        </p:spPr>
        <p:txBody>
          <a:bodyPr anchor="t" lIns="0" tIns="0" rIns="0" bIns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800" dirty="0" b="1">
                <a:effectLst/>
              </a:rPr>
              <a:t>Function of Several Variables</a:t>
            </a:r>
          </a:p>
        </p:txBody>
      </p:sp>
      <p:sp>
        <p:nvSpPr>
          <p:cNvPr id="2" name="Text"/>
          <p:cNvSpPr/>
          <p:nvPr/>
        </p:nvSpPr>
        <p:spPr>
          <a:xfrm>
            <a:off x="1524000" y="1370839"/>
            <a:ext cx="9144000" cy="228600"/>
          </a:xfrm>
          <a:prstGeom prst="rect">
            <a:avLst/>
          </a:prstGeom>
        </p:spPr>
        <p:txBody>
          <a:bodyPr anchor="t" lIns="0" tIns="0" rIns="0" bIns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effectLst/>
              </a:rPr>
              <a:t>Example: The temperature in a region where there is a heat source at the origin is given by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"/>
              <p:cNvSpPr/>
              <p:nvPr/>
            </p:nvSpPr>
            <p:spPr>
              <a:xfrm>
                <a:off x="1524000" y="1751839"/>
                <a:ext cx="9144000" cy="419100"/>
              </a:xfrm>
              <a:prstGeom prst="rect">
                <a:avLst/>
              </a:prstGeom>
            </p:spPr>
            <p:txBody>
              <a:bodyPr anchor="ctr" lIns="0" tIns="0" rIns="0" bIns="0">
                <a:noAutofit/>
              </a:bodyPr>
              <a:lstStyle/>
              <a:p>
                <a:pPr algn="ctr"/>
                <a14:m>
                  <m:oMathPara>
                    <m:oMath>
                      <m:r>
                        <m:rPr>
                          <m:sty m:val="i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=</m:t>
                      </m:r>
                      <m:f>
                        <m:fPr>
                          <m:ctrlPr>
                            <a:rPr sz="120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1000</m:t>
                          </m:r>
                        </m:num>
                        <m:den>
                          <m:sSup>
                            <m:sSupPr>
                              <m:ctrlPr>
                                <a:rPr sz="1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i"/>
                                </m:rPr>
                                <a:rPr lang="en-US" sz="1200" dirty="0">
                                  <a:solidFill>
                                    <a:srgbClr val="000000"/>
                                  </a:solidFill>
                                  <a:effectLst/>
                                </a:rPr>
                                <m:t>x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200" dirty="0">
                                  <a:solidFill>
                                    <a:srgbClr val="000000"/>
                                  </a:solidFill>
                                  <a:effectLst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+</m:t>
                          </m:r>
                          <m:sSup>
                            <m:sSupPr>
                              <m:ctrlPr>
                                <a:rPr sz="1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i"/>
                                </m:rPr>
                                <a:rPr lang="en-US" sz="1200" dirty="0">
                                  <a:solidFill>
                                    <a:srgbClr val="000000"/>
                                  </a:solidFill>
                                  <a:effectLst/>
                                </a:rPr>
                                <m:t>y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200" dirty="0">
                                  <a:solidFill>
                                    <a:srgbClr val="000000"/>
                                  </a:solidFill>
                                  <a:effectLst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+</m:t>
                          </m:r>
                          <m:sSup>
                            <m:sSupPr>
                              <m:ctrlPr>
                                <a:rPr sz="1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i"/>
                                </m:rPr>
                                <a:rPr lang="en-US" sz="1200" dirty="0">
                                  <a:solidFill>
                                    <a:srgbClr val="000000"/>
                                  </a:solidFill>
                                  <a:effectLst/>
                                </a:rPr>
                                <m:t>z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200" dirty="0">
                                  <a:solidFill>
                                    <a:srgbClr val="000000"/>
                                  </a:solidFill>
                                  <a:effectLst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 for </m:t>
                      </m:r>
                      <m:sSup>
                        <m:sSupPr>
                          <m:ctrlPr>
                            <a:rPr sz="12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i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+</m:t>
                      </m:r>
                      <m:sSup>
                        <m:sSupPr>
                          <m:ctrlPr>
                            <a:rPr sz="12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i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y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+</m:t>
                      </m:r>
                      <m:sSup>
                        <m:sSupPr>
                          <m:ctrlPr>
                            <a:rPr sz="12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i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z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≥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1</m:t>
                      </m:r>
                    </m:oMath>
                  </m:oMathPara>
                </a14:m>
              </a:p>
            </p:txBody>
          </p:sp>
        </mc:Choice>
        <mc:Fallback/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"/>
              <p:cNvSpPr/>
              <p:nvPr/>
            </p:nvSpPr>
            <p:spPr>
              <a:xfrm>
                <a:off x="1524000" y="2323339"/>
                <a:ext cx="9144000" cy="457200"/>
              </a:xfrm>
              <a:prstGeom prst="rect">
                <a:avLst/>
              </a:prstGeom>
            </p:spPr>
            <p:txBody>
              <a:bodyPr anchor="t" lIns="0" tIns="0" rIns="0" bIns="0"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1200" dirty="0">
                    <a:effectLst/>
                  </a:rPr>
                  <a:t>We cannot graph this "surface" because we would need four dimensions, but if we set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T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(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x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,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y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,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z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)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=</m:t>
                    </m:r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k</m:t>
                    </m:r>
                  </m:oMath>
                </a14:m>
                <a:r>
                  <a:rPr lang="en-US" sz="1200" dirty="0">
                    <a:effectLst/>
                  </a:rPr>
                  <a:t> with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k</m:t>
                    </m:r>
                  </m:oMath>
                </a14:m>
                <a:r>
                  <a:rPr lang="en-US" sz="1200" dirty="0">
                    <a:effectLst/>
                  </a:rPr>
                  <a:t> constant, we obtain level surfaces which in this context are isotherms.</a:t>
                </a:r>
              </a:p>
            </p:txBody>
          </p:sp>
        </mc:Choice>
        <mc:Fallback/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"/>
          <p:cNvSpPr/>
          <p:nvPr/>
        </p:nvSpPr>
        <p:spPr>
          <a:xfrm>
            <a:off x="1524000" y="457200"/>
            <a:ext cx="9144000" cy="6324600"/>
          </a:xfrm>
          <a:prstGeom prst="rect">
            <a:avLst/>
          </a:prstGeom>
        </p:spPr>
        <p:txBody>
          <a:bodyPr anchor="t" lIns="0" tIns="0" rIns="0" bIns="0">
            <a:noAutofit/>
          </a:bodyPr>
          <a:lstStyle/>
          <a:p>
            <a:pPr>
              <a:spcAft>
                <a:spcPts val="48000"/>
              </a:spcAft>
            </a:pPr>
            <a:r>
              <a:rPr lang="en-US" sz="100" dirty="0">
                <a:effectLst/>
              </a:rPr>
              <a:t> </a:t>
            </a:r>
          </a:p>
        </p:txBody>
      </p:sp>
      <p:pic>
        <p:nvPicPr>
          <p:cNvPr id="5" name="image-c86e9d67dfe70fec75b7338ba1e162b00ac072c3.jpg"/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524000" y="457200"/>
            <a:ext cx="7458075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"/>
              <p:cNvSpPr/>
              <p:nvPr/>
            </p:nvSpPr>
            <p:spPr>
              <a:xfrm>
                <a:off x="1524000" y="457200"/>
                <a:ext cx="9144000" cy="457200"/>
              </a:xfrm>
              <a:prstGeom prst="rect">
                <a:avLst/>
              </a:prstGeom>
            </p:spPr>
            <p:txBody>
              <a:bodyPr anchor="t" lIns="0" tIns="0" rIns="0" bIns="0"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1200" dirty="0">
                    <a:effectLst/>
                  </a:rPr>
                  <a:t>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T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=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250</m:t>
                    </m:r>
                  </m:oMath>
                </a14:m>
                <a:r>
                  <a:rPr lang="en-US" sz="1200" dirty="0">
                    <a:effectLst/>
                  </a:rPr>
                  <a:t> on the surface</a:t>
                </a:r>
                <a:br>
                  <a:rPr lang="en-US" sz="1200" dirty="0"/>
                </a:br>
                <a:r>
                  <a:rPr lang="en-US" sz="1200" dirty="0">
                    <a:effectLst/>
                  </a:rPr>
                  <a:t>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Para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sz="12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i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+</m:t>
                      </m:r>
                      <m:sSup>
                        <m:sSupPr>
                          <m:ctrlPr>
                            <a:rPr sz="12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i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y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+</m:t>
                      </m:r>
                      <m:sSup>
                        <m:sSupPr>
                          <m:ctrlPr>
                            <a:rPr sz="12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i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z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4</m:t>
                      </m:r>
                    </m:oMath>
                  </m:oMathPara>
                </a14:m>
              </a:p>
            </p:txBody>
          </p:sp>
        </mc:Choice>
        <mc:Fallback/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"/>
              <p:cNvSpPr/>
              <p:nvPr/>
            </p:nvSpPr>
            <p:spPr>
              <a:xfrm>
                <a:off x="1524000" y="1066800"/>
                <a:ext cx="9144000" cy="419100"/>
              </a:xfrm>
              <a:prstGeom prst="rect">
                <a:avLst/>
              </a:prstGeom>
            </p:spPr>
            <p:txBody>
              <a:bodyPr anchor="ctr" lIns="0" tIns="0" rIns="0" bIns="0">
                <a:noAutofit/>
              </a:bodyPr>
              <a:lstStyle/>
              <a:p>
                <a:pPr algn="ctr"/>
                <a14:m>
                  <m:oMathPara>
                    <m:oMath>
                      <m:f>
                        <m:fPr>
                          <m:ctrlPr>
                            <a:rPr sz="120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1000</m:t>
                          </m:r>
                        </m:num>
                        <m:den>
                          <m:sSup>
                            <m:sSupPr>
                              <m:ctrlPr>
                                <a:rPr sz="1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i"/>
                                </m:rPr>
                                <a:rPr lang="en-US" sz="1200" dirty="0">
                                  <a:solidFill>
                                    <a:srgbClr val="000000"/>
                                  </a:solidFill>
                                  <a:effectLst/>
                                </a:rPr>
                                <m:t>x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200" dirty="0">
                                  <a:solidFill>
                                    <a:srgbClr val="000000"/>
                                  </a:solidFill>
                                  <a:effectLst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+</m:t>
                          </m:r>
                          <m:sSup>
                            <m:sSupPr>
                              <m:ctrlPr>
                                <a:rPr sz="1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i"/>
                                </m:rPr>
                                <a:rPr lang="en-US" sz="1200" dirty="0">
                                  <a:solidFill>
                                    <a:srgbClr val="000000"/>
                                  </a:solidFill>
                                  <a:effectLst/>
                                </a:rPr>
                                <m:t>y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200" dirty="0">
                                  <a:solidFill>
                                    <a:srgbClr val="000000"/>
                                  </a:solidFill>
                                  <a:effectLst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m:t>+</m:t>
                          </m:r>
                          <m:sSup>
                            <m:sSupPr>
                              <m:ctrlPr>
                                <a:rPr sz="1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i"/>
                                </m:rPr>
                                <a:rPr lang="en-US" sz="1200" dirty="0">
                                  <a:solidFill>
                                    <a:srgbClr val="000000"/>
                                  </a:solidFill>
                                  <a:effectLst/>
                                </a:rPr>
                                <m:t>z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200" dirty="0">
                                  <a:solidFill>
                                    <a:srgbClr val="000000"/>
                                  </a:solidFill>
                                  <a:effectLst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=</m:t>
                      </m:r>
                      <m:r>
                        <m:rPr>
                          <m:sty m:val="i"/>
                        </m:rP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m:t>k</m:t>
                      </m:r>
                    </m:oMath>
                  </m:oMathPara>
                </a14:m>
              </a:p>
            </p:txBody>
          </p:sp>
        </mc:Choice>
        <mc:Fallback/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"/>
              <p:cNvSpPr/>
              <p:nvPr/>
            </p:nvSpPr>
            <p:spPr>
              <a:xfrm>
                <a:off x="1524000" y="1638300"/>
                <a:ext cx="9144000" cy="457200"/>
              </a:xfrm>
              <a:prstGeom prst="rect">
                <a:avLst/>
              </a:prstGeom>
            </p:spPr>
            <p:txBody>
              <a:bodyPr anchor="t" lIns="0" tIns="0" rIns="0" bIns="0"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1200" dirty="0">
                    <a:effectLst/>
                  </a:rPr>
                  <a:t>We can pick arbitrary values for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k</m:t>
                    </m:r>
                  </m:oMath>
                </a14:m>
                <a:r>
                  <a:rPr lang="en-US" sz="1200" dirty="0">
                    <a:effectLst/>
                  </a:rPr>
                  <a:t>.</a:t>
                </a:r>
                <a:br>
                  <a:rPr lang="en-US" sz="1200" dirty="0"/>
                </a:br>
                <a:r>
                  <a:rPr lang="en-US" sz="1200" dirty="0">
                    <a:effectLst/>
                  </a:rPr>
                  <a:t> Let's pick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k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=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1000</m:t>
                    </m:r>
                  </m:oMath>
                </a14:m>
                <a:r>
                  <a:rPr lang="en-US" sz="1200" dirty="0">
                    <a:effectLst/>
                  </a:rPr>
                  <a:t> and </a:t>
                </a:r>
                <a:r>
                  <a:rPr lang="en-US" sz="1200" dirty="0">
                    <a:effectLst/>
                  </a:rPr>
                  <a:t>​</a:t>
                </a:r>
                <a14:m>
                  <m:oMath>
                    <m:r>
                      <m:rPr>
                        <m:sty m:val="i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k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=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rgbClr val="000000"/>
                        </a:solidFill>
                        <a:effectLst/>
                      </a:rPr>
                      <m:t>250</m:t>
                    </m:r>
                  </m:oMath>
                </a14:m>
              </a:p>
            </p:txBody>
          </p:sp>
        </mc:Choice>
        <mc:Fallback/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"/>
              <p:cNvSpPr/>
              <p:nvPr/>
            </p:nvSpPr>
            <p:spPr>
              <a:xfrm>
                <a:off x="1524000" y="2247900"/>
                <a:ext cx="9144000" cy="838200"/>
              </a:xfrm>
              <a:prstGeom prst="rect">
                <a:avLst/>
              </a:prstGeom>
            </p:spPr>
            <p:txBody>
              <a:bodyPr anchor="ctr" lIns="0" tIns="0" rIns="0" bIns="0">
                <a:noAutofit/>
              </a:bodyPr>
              <a:lstStyle/>
              <a:p>
                <a:pPr algn="ctr"/>
                <a14:m>
                  <m:oMathPara>
                    <m:oMath>
                      <m:m>
                        <m:mPr>
                          <m:plcHide m:val="1"/>
                          <m:cGpRule m:val="4"/>
                          <m:mcs>
                            <m:mc>
                              <m:mcPr>
                                <m:count m:val="1"/>
                                <m:mcJc m:val="right"/>
                              </m:mcPr>
                            </m:mc>
                            <m:mc>
                              <m:mcPr>
                                <m:count m:val="1"/>
                                <m:mcJc m:val="left"/>
                              </m:mcPr>
                            </m:mc>
                          </m:mcs>
                          <m:ctrlPr>
                            <a:rPr sz="12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t xml:space="preserve"> </m:t>
                            </m:r>
                          </m:e>
                          <m:e>
                            <m:r>
                              <m:rPr>
                                <m:sty m:val="i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1000</m:t>
                            </m:r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⇒</m:t>
                            </m:r>
                            <m:f>
                              <m:fPr>
                                <m:ctrlPr>
                                  <a:rPr sz="120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US" sz="1200" dirty="0">
                                    <a:solidFill>
                                      <a:srgbClr val="000000"/>
                                    </a:solidFill>
                                    <a:effectLst/>
                                  </a:rPr>
                                  <m:t>1000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sz="120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i"/>
                                      </m:rPr>
                                      <a:rPr lang="en-US" sz="1200" dirty="0">
                                        <a:solidFill>
                                          <a:srgbClr val="000000"/>
                                        </a:solidFill>
                                        <a:effectLst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sz="1200" dirty="0">
                                        <a:solidFill>
                                          <a:srgbClr val="000000"/>
                                        </a:solidFill>
                                        <a:effectLst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US" sz="1200" dirty="0">
                                    <a:solidFill>
                                      <a:srgbClr val="000000"/>
                                    </a:solidFill>
                                    <a:effectLst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sz="120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i"/>
                                      </m:rPr>
                                      <a:rPr lang="en-US" sz="1200" dirty="0">
                                        <a:solidFill>
                                          <a:srgbClr val="000000"/>
                                        </a:solidFill>
                                        <a:effectLst/>
                                      </a:rPr>
                                      <m:t>y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sz="1200" dirty="0">
                                        <a:solidFill>
                                          <a:srgbClr val="000000"/>
                                        </a:solidFill>
                                        <a:effectLst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US" sz="1200" dirty="0">
                                    <a:solidFill>
                                      <a:srgbClr val="000000"/>
                                    </a:solidFill>
                                    <a:effectLst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sz="120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i"/>
                                      </m:rPr>
                                      <a:rPr lang="en-US" sz="1200" dirty="0">
                                        <a:solidFill>
                                          <a:srgbClr val="000000"/>
                                        </a:solidFill>
                                        <a:effectLst/>
                                      </a:rPr>
                                      <m:t>z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sz="1200" dirty="0">
                                        <a:solidFill>
                                          <a:srgbClr val="000000"/>
                                        </a:solidFill>
                                        <a:effectLst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1000</m:t>
                            </m:r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⇒</m:t>
                            </m:r>
                            <m:sSup>
                              <m:sSupPr>
                                <m:ctrlPr>
                                  <a:rPr sz="120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i"/>
                                  </m:rPr>
                                  <a:rPr lang="en-US" sz="1200" dirty="0">
                                    <a:solidFill>
                                      <a:srgbClr val="000000"/>
                                    </a:solidFill>
                                    <a:effectLst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sz="1200" dirty="0">
                                    <a:solidFill>
                                      <a:srgbClr val="000000"/>
                                    </a:solidFill>
                                    <a:effectLst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sz="120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i"/>
                                  </m:rPr>
                                  <a:rPr lang="en-US" sz="1200" dirty="0">
                                    <a:solidFill>
                                      <a:srgbClr val="000000"/>
                                    </a:solidFill>
                                    <a:effectLst/>
                                  </a:rPr>
                                  <m:t>y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sz="1200" dirty="0">
                                    <a:solidFill>
                                      <a:srgbClr val="000000"/>
                                    </a:solidFill>
                                    <a:effectLst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sz="120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i"/>
                                  </m:rPr>
                                  <a:rPr lang="en-US" sz="1200" dirty="0">
                                    <a:solidFill>
                                      <a:srgbClr val="000000"/>
                                    </a:solidFill>
                                    <a:effectLst/>
                                  </a:rPr>
                                  <m:t>z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sz="1200" dirty="0">
                                    <a:solidFill>
                                      <a:srgbClr val="000000"/>
                                    </a:solidFill>
                                    <a:effectLst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1</m:t>
                            </m:r>
                          </m:e>
                        </m:mr>
                        <m:mr>
                          <m:e>
                            <m:r>
                              <m:t xml:space="preserve"> </m:t>
                            </m:r>
                          </m:e>
                          <m:e>
                            <m:r>
                              <m:rPr>
                                <m:sty m:val="i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250</m:t>
                            </m:r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⇒</m:t>
                            </m:r>
                            <m:f>
                              <m:fPr>
                                <m:ctrlPr>
                                  <a:rPr sz="120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US" sz="1200" dirty="0">
                                    <a:solidFill>
                                      <a:srgbClr val="000000"/>
                                    </a:solidFill>
                                    <a:effectLst/>
                                  </a:rPr>
                                  <m:t>1000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sz="120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i"/>
                                      </m:rPr>
                                      <a:rPr lang="en-US" sz="1200" dirty="0">
                                        <a:solidFill>
                                          <a:srgbClr val="000000"/>
                                        </a:solidFill>
                                        <a:effectLst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sz="1200" dirty="0">
                                        <a:solidFill>
                                          <a:srgbClr val="000000"/>
                                        </a:solidFill>
                                        <a:effectLst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US" sz="1200" dirty="0">
                                    <a:solidFill>
                                      <a:srgbClr val="000000"/>
                                    </a:solidFill>
                                    <a:effectLst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sz="120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i"/>
                                      </m:rPr>
                                      <a:rPr lang="en-US" sz="1200" dirty="0">
                                        <a:solidFill>
                                          <a:srgbClr val="000000"/>
                                        </a:solidFill>
                                        <a:effectLst/>
                                      </a:rPr>
                                      <m:t>y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sz="1200" dirty="0">
                                        <a:solidFill>
                                          <a:srgbClr val="000000"/>
                                        </a:solidFill>
                                        <a:effectLst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US" sz="1200" dirty="0">
                                    <a:solidFill>
                                      <a:srgbClr val="000000"/>
                                    </a:solidFill>
                                    <a:effectLst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sz="120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i"/>
                                      </m:rPr>
                                      <a:rPr lang="en-US" sz="1200" dirty="0">
                                        <a:solidFill>
                                          <a:srgbClr val="000000"/>
                                        </a:solidFill>
                                        <a:effectLst/>
                                      </a:rPr>
                                      <m:t>z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sz="1200" dirty="0">
                                        <a:solidFill>
                                          <a:srgbClr val="000000"/>
                                        </a:solidFill>
                                        <a:effectLst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250</m:t>
                            </m:r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⇒</m:t>
                            </m:r>
                            <m:sSup>
                              <m:sSupPr>
                                <m:ctrlPr>
                                  <a:rPr sz="120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i"/>
                                  </m:rPr>
                                  <a:rPr lang="en-US" sz="1200" dirty="0">
                                    <a:solidFill>
                                      <a:srgbClr val="000000"/>
                                    </a:solidFill>
                                    <a:effectLst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sz="1200" dirty="0">
                                    <a:solidFill>
                                      <a:srgbClr val="000000"/>
                                    </a:solidFill>
                                    <a:effectLst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sz="120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i"/>
                                  </m:rPr>
                                  <a:rPr lang="en-US" sz="1200" dirty="0">
                                    <a:solidFill>
                                      <a:srgbClr val="000000"/>
                                    </a:solidFill>
                                    <a:effectLst/>
                                  </a:rPr>
                                  <m:t>y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sz="1200" dirty="0">
                                    <a:solidFill>
                                      <a:srgbClr val="000000"/>
                                    </a:solidFill>
                                    <a:effectLst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sz="120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i"/>
                                  </m:rPr>
                                  <a:rPr lang="en-US" sz="1200" dirty="0">
                                    <a:solidFill>
                                      <a:srgbClr val="000000"/>
                                    </a:solidFill>
                                    <a:effectLst/>
                                  </a:rPr>
                                  <m:t>z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sz="1200" dirty="0">
                                    <a:solidFill>
                                      <a:srgbClr val="000000"/>
                                    </a:solidFill>
                                    <a:effectLst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lang="en-US" sz="1200" dirty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4</m:t>
                            </m:r>
                          </m:e>
                        </m:mr>
                      </m:m>
                    </m:oMath>
                  </m:oMathPara>
                </a14:m>
              </a:p>
            </p:txBody>
          </p:sp>
        </mc:Choice>
        <mc:Fallback/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athpix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B93ff"/>
      </a:hlink>
      <a:folHlink>
        <a:srgbClr val="0B93ff"/>
      </a:folHlink>
    </a:clrScheme>
    <a:fontScheme name="Office">
      <a:majorFont>
        <a:latin typeface="Georgia" panose="020405020504050203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orgia" panose="020405020504050203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Mathpix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mmd-to-pptx</dc:creator>
  <cp:lastModifiedBy>mmd-to-pptx</cp:lastModifiedBy>
  <cp:revision>1</cp:revision>
  <dcterms:created xsi:type="dcterms:W3CDTF">2025-11-27T17:29:45.588Z</dcterms:created>
  <dcterms:modified xsi:type="dcterms:W3CDTF">2025-11-27T17:29:45.588Z</dcterms:modified>
</cp:coreProperties>
</file>